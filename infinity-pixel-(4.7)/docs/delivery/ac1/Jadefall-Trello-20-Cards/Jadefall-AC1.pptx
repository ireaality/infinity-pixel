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d4f2b2a7b84b94" /><Relationship Type="http://schemas.openxmlformats.org/officeDocument/2006/relationships/extended-properties" Target="/docProps/app.xml" Id="Rfb71e9bae58b4820" /><Relationship Type="http://schemas.openxmlformats.org/officeDocument/2006/relationships/officeDocument" Target="/ppt/presentation.xml" Id="Rc1abc51d75d648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f4c69a3c8448e8"/>
  </p:sldMasterIdLst>
  <p:notesMasterIdLst>
    <p:notesMasterId xmlns:r="http://schemas.openxmlformats.org/officeDocument/2006/relationships" r:id="Ra87118959c824b06"/>
  </p:notesMasterIdLst>
  <p:sldIdLst>
    <p:sldId xmlns:r="http://schemas.openxmlformats.org/officeDocument/2006/relationships" id="256" r:id="R20f197e628834c7e"/>
    <p:sldId xmlns:r="http://schemas.openxmlformats.org/officeDocument/2006/relationships" id="257" r:id="Rde8531396b004f74"/>
    <p:sldId xmlns:r="http://schemas.openxmlformats.org/officeDocument/2006/relationships" id="258" r:id="R5e1953d550864945"/>
    <p:sldId xmlns:r="http://schemas.openxmlformats.org/officeDocument/2006/relationships" id="259" r:id="Rb18d6f0b7006426c"/>
    <p:sldId xmlns:r="http://schemas.openxmlformats.org/officeDocument/2006/relationships" id="260" r:id="Rc5974d726eb14003"/>
    <p:sldId xmlns:r="http://schemas.openxmlformats.org/officeDocument/2006/relationships" id="261" r:id="R10b6de6a6b0d498a"/>
    <p:sldId xmlns:r="http://schemas.openxmlformats.org/officeDocument/2006/relationships" id="262" r:id="R6db863830dc44464"/>
    <p:sldId xmlns:r="http://schemas.openxmlformats.org/officeDocument/2006/relationships" id="263" r:id="Rc194900820cb4fb0"/>
    <p:sldId xmlns:r="http://schemas.openxmlformats.org/officeDocument/2006/relationships" id="264" r:id="Rf2ed8c525eaa40bc"/>
    <p:sldId xmlns:r="http://schemas.openxmlformats.org/officeDocument/2006/relationships" id="265" r:id="R89d879b735ad42de"/>
    <p:sldId xmlns:r="http://schemas.openxmlformats.org/officeDocument/2006/relationships" id="266" r:id="R21b44ae0b08548d5"/>
    <p:sldId xmlns:r="http://schemas.openxmlformats.org/officeDocument/2006/relationships" id="267" r:id="R86c2a80184bd49fc"/>
    <p:sldId xmlns:r="http://schemas.openxmlformats.org/officeDocument/2006/relationships" id="268" r:id="R48087de1f7d8451c"/>
    <p:sldId xmlns:r="http://schemas.openxmlformats.org/officeDocument/2006/relationships" id="269" r:id="R87332138c76f4d5b"/>
    <p:sldId xmlns:r="http://schemas.openxmlformats.org/officeDocument/2006/relationships" id="270" r:id="R4f5a013f577b4bd2"/>
    <p:sldId xmlns:r="http://schemas.openxmlformats.org/officeDocument/2006/relationships" id="271" r:id="Rcf0ca1a1e43c480a"/>
    <p:sldId xmlns:r="http://schemas.openxmlformats.org/officeDocument/2006/relationships" id="272" r:id="Rb753c51ce03649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d9159a36ac4422" /><Relationship Type="http://schemas.openxmlformats.org/officeDocument/2006/relationships/slideMaster" Target="/ppt/slideMasters/slideMaster1.xml" Id="R47f4c69a3c8448e8" /><Relationship Type="http://schemas.openxmlformats.org/officeDocument/2006/relationships/notesMaster" Target="/ppt/notesMasters/notesMaster1.xml" Id="Ra87118959c824b06" /><Relationship Type="http://schemas.openxmlformats.org/officeDocument/2006/relationships/presProps" Target="/ppt/presProps.xml" Id="R27e028ecc4aa4896" /><Relationship Type="http://schemas.openxmlformats.org/officeDocument/2006/relationships/tableStyles" Target="/ppt/tableStyles.xml" Id="R7c67e9c4cb564b76" /><Relationship Type="http://schemas.openxmlformats.org/officeDocument/2006/relationships/slide" Target="/ppt/slides/slide1.xml" Id="R20f197e628834c7e" /><Relationship Type="http://schemas.openxmlformats.org/officeDocument/2006/relationships/slide" Target="/ppt/slides/slide2.xml" Id="Rde8531396b004f74" /><Relationship Type="http://schemas.openxmlformats.org/officeDocument/2006/relationships/slide" Target="/ppt/slides/slide3.xml" Id="R5e1953d550864945" /><Relationship Type="http://schemas.openxmlformats.org/officeDocument/2006/relationships/slide" Target="/ppt/slides/slide4.xml" Id="Rb18d6f0b7006426c" /><Relationship Type="http://schemas.openxmlformats.org/officeDocument/2006/relationships/slide" Target="/ppt/slides/slide5.xml" Id="Rc5974d726eb14003" /><Relationship Type="http://schemas.openxmlformats.org/officeDocument/2006/relationships/slide" Target="/ppt/slides/slide6.xml" Id="R10b6de6a6b0d498a" /><Relationship Type="http://schemas.openxmlformats.org/officeDocument/2006/relationships/slide" Target="/ppt/slides/slide7.xml" Id="R6db863830dc44464" /><Relationship Type="http://schemas.openxmlformats.org/officeDocument/2006/relationships/slide" Target="/ppt/slides/slide8.xml" Id="Rc194900820cb4fb0" /><Relationship Type="http://schemas.openxmlformats.org/officeDocument/2006/relationships/slide" Target="/ppt/slides/slide9.xml" Id="Rf2ed8c525eaa40bc" /><Relationship Type="http://schemas.openxmlformats.org/officeDocument/2006/relationships/slide" Target="/ppt/slides/slide10.xml" Id="R89d879b735ad42de" /><Relationship Type="http://schemas.openxmlformats.org/officeDocument/2006/relationships/slide" Target="/ppt/slides/slide11.xml" Id="R21b44ae0b08548d5" /><Relationship Type="http://schemas.openxmlformats.org/officeDocument/2006/relationships/slide" Target="/ppt/slides/slide12.xml" Id="R86c2a80184bd49fc" /><Relationship Type="http://schemas.openxmlformats.org/officeDocument/2006/relationships/slide" Target="/ppt/slides/slide13.xml" Id="R48087de1f7d8451c" /><Relationship Type="http://schemas.openxmlformats.org/officeDocument/2006/relationships/slide" Target="/ppt/slides/slide14.xml" Id="R87332138c76f4d5b" /><Relationship Type="http://schemas.openxmlformats.org/officeDocument/2006/relationships/slide" Target="/ppt/slides/slide15.xml" Id="R4f5a013f577b4bd2" /><Relationship Type="http://schemas.openxmlformats.org/officeDocument/2006/relationships/slide" Target="/ppt/slides/slide16.xml" Id="Rcf0ca1a1e43c480a" /><Relationship Type="http://schemas.openxmlformats.org/officeDocument/2006/relationships/slide" Target="/ppt/slides/slide17.xml" Id="Rb753c51ce03649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07988a5c174e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02cb167ae54f3d" /><Relationship Type="http://schemas.openxmlformats.org/officeDocument/2006/relationships/notesMaster" Target="/ppt/notesMasters/notesMaster1.xml" Id="Rca3934f198094e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0b542e01c64c6c" /><Relationship Type="http://schemas.openxmlformats.org/officeDocument/2006/relationships/notesMaster" Target="/ppt/notesMasters/notesMaster1.xml" Id="R54b48a9ae4314a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cfe30f1f8d4512" /><Relationship Type="http://schemas.openxmlformats.org/officeDocument/2006/relationships/notesMaster" Target="/ppt/notesMasters/notesMaster1.xml" Id="R9774cfae9f0346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75b1276c8449dd" /><Relationship Type="http://schemas.openxmlformats.org/officeDocument/2006/relationships/notesMaster" Target="/ppt/notesMasters/notesMaster1.xml" Id="R8fc3892b5a4048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0a9ea171e14694" /><Relationship Type="http://schemas.openxmlformats.org/officeDocument/2006/relationships/notesMaster" Target="/ppt/notesMasters/notesMaster1.xml" Id="R79f8ae5ac90646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497b19ce4a4814" /><Relationship Type="http://schemas.openxmlformats.org/officeDocument/2006/relationships/notesMaster" Target="/ppt/notesMasters/notesMaster1.xml" Id="Rf1af4ef43dc747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094c0ccd394c38" /><Relationship Type="http://schemas.openxmlformats.org/officeDocument/2006/relationships/notesMaster" Target="/ppt/notesMasters/notesMaster1.xml" Id="R7a49b376bd0044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9061c80793474e" /><Relationship Type="http://schemas.openxmlformats.org/officeDocument/2006/relationships/notesMaster" Target="/ppt/notesMasters/notesMaster1.xml" Id="R4ca2c882b8c148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abca7873a54a90" /><Relationship Type="http://schemas.openxmlformats.org/officeDocument/2006/relationships/notesMaster" Target="/ppt/notesMasters/notesMaster1.xml" Id="Ra473737ec85a44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7228afc7e34ca2" /><Relationship Type="http://schemas.openxmlformats.org/officeDocument/2006/relationships/notesMaster" Target="/ppt/notesMasters/notesMaster1.xml" Id="Rbe7099f6d5b643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bb26abc6a74443" /><Relationship Type="http://schemas.openxmlformats.org/officeDocument/2006/relationships/notesMaster" Target="/ppt/notesMasters/notesMaster1.xml" Id="R465f9f25fff04b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db2bee62ca4b9c" /><Relationship Type="http://schemas.openxmlformats.org/officeDocument/2006/relationships/notesMaster" Target="/ppt/notesMasters/notesMaster1.xml" Id="Red6fe3918c2144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873c5c26cc49c6" /><Relationship Type="http://schemas.openxmlformats.org/officeDocument/2006/relationships/notesMaster" Target="/ppt/notesMasters/notesMaster1.xml" Id="R27a5bf239e3641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39bab916b64a0c" /><Relationship Type="http://schemas.openxmlformats.org/officeDocument/2006/relationships/notesMaster" Target="/ppt/notesMasters/notesMaster1.xml" Id="Rdcd8c97112ef48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4dfc991b42497d" /><Relationship Type="http://schemas.openxmlformats.org/officeDocument/2006/relationships/notesMaster" Target="/ppt/notesMasters/notesMaster1.xml" Id="Rc71666475c1448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a387f8911d4e5a" /><Relationship Type="http://schemas.openxmlformats.org/officeDocument/2006/relationships/notesMaster" Target="/ppt/notesMasters/notesMaster1.xml" Id="R4214676cf0ea4d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763c39dbe104385" /><Relationship Type="http://schemas.openxmlformats.org/officeDocument/2006/relationships/notesMaster" Target="/ppt/notesMasters/notesMaster1.xml" Id="R7da7d95928fb45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Capa. Apresentar o nome do jogo Jadefall: Guardiões do Refúgio e do estúdio Inity Pixel. Captura real do menu atual; Godot 4.6.2.</a:t>
            </a:r>
          </a:p>
          <a:p xmlns:a="http://schemas.openxmlformats.org/drawingml/2006/main">
            <a:r>
              <a:t>Fonte: docs/ac1/GDD_AC1.md; docs/delivery/ac1/evidence/main_menu_Windows/menu_1280x720.png.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jogador controla diretamente o Guardião e prepara defesas indiretas. Público proposto: quem gosta de exploração, criaturas e estratégia. Não há classificação indicativa formal.</a:t>
            </a:r>
          </a:p>
          <a:p xmlns:a="http://schemas.openxmlformats.org/drawingml/2006/main">
            <a:r>
              <a:t>Fonte: docs/ac1/GDD_AC1.md; docs/delivery/ac1/evidence/map_showcase_Windows/05_creature_glade.png.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História preservada da proposta existente. Não há campanha, diálogos ou nome próprio aprovado. Cristal e estandartes comunicam abrigo; jade comunica vínculo.</a:t>
            </a:r>
          </a:p>
          <a:p xmlns:a="http://schemas.openxmlformats.org/drawingml/2006/main">
            <a:r>
              <a:t>Fonte: docs/ac1/GDD_AC1.md; docs/delivery/ac1/evidence/map_showcase_Windows/01_spawn.png.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sequência representa possibilidades, não quests obrigatórias. Dia automático de 90 s. Neutralizar a onda inteira causa amanhecer. Destruir a base encerra sessão.</a:t>
            </a:r>
          </a:p>
          <a:p xmlns:a="http://schemas.openxmlformats.org/drawingml/2006/main">
            <a:r>
              <a:t>Fonte: docs/ac1/GDD_AC1.md; docs/delivery/ac1/evidence/territory_showcase_Windows/07_oeste_controlada_hud_2de3.png.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Mouse não gira a câmera. E por 2 s, H por 3 s. Clique esquerdo confirma construção; direito cancela. Esc fecha painel antes de pausar. T e N são debug desativado.</a:t>
            </a:r>
          </a:p>
          <a:p xmlns:a="http://schemas.openxmlformats.org/drawingml/2006/main">
            <a:r>
              <a:t>Fonte: docs/ac1/GDD_AC1.md; docs/delivery/ac1/evidence/main_menu_Windows/menu_controles.png.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Modelos reais em scenes/visuals. Capturas de apresentação com câmera própria. WildDino: 80 HP. Carnotauro não domesticável.</a:t>
            </a:r>
          </a:p>
          <a:p xmlns:a="http://schemas.openxmlformats.org/drawingml/2006/main">
            <a:r>
              <a:t>Fonte: docs/ac1/GDD_AC1.md; assets do próprio projeto.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Vista ortográfica inclinada do mapa real. Sul/Refúgio fica em cima da imagem e norte/ruína embaixo; oeste à esquerda. Marcos em (-14,13) e (13,16). Seis slots de torre.</a:t>
            </a:r>
          </a:p>
          <a:p xmlns:a="http://schemas.openxmlformats.org/drawingml/2006/main">
            <a:r>
              <a:t>Fonte: docs/ac1/GDD_AC1.md; docs/delivery/ac1/evidence/map_showcase_Windows/11_overview_diagnostic.png.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Árvores 30 HP rendem 10 madeira; pedras 45 HP rendem 6 pedra. Fogueira custa 20/12; Armadilha 15/6. Materiais não são PD. Fantasma valida posição antes de cobrar.</a:t>
            </a:r>
          </a:p>
          <a:p xmlns:a="http://schemas.openxmlformats.org/drawingml/2006/main">
            <a:r>
              <a:t>Fonte: docs/ac1/GDD_AC1.md; docs/delivery/ac1/evidence/build_showcase_Windows/01_inventario.png.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Domesticação exige HP até 30% e distância de até 3 m. Guardião domesticado também libera marco. A captura usa preparação controlada da cena de demonstração.</a:t>
            </a:r>
          </a:p>
          <a:p xmlns:a="http://schemas.openxmlformats.org/drawingml/2006/main">
            <a:r>
              <a:t>Fonte: docs/ac1/GDD_AC1.md; docs/delivery/ac1/evidence/territory_showcase_Windows/11_leste_pronto_aliado.png.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Relógio noturno percorre 45 s, mas não vence sozinho. Primeira onda: 3 inimigos; +1 a cada noite. Luz e céu acompanham o relógio; inimigos noturnos ganham dano e velocidade.</a:t>
            </a:r>
          </a:p>
          <a:p xmlns:a="http://schemas.openxmlformats.org/drawingml/2006/main">
            <a:r>
              <a:t>Fonte: docs/ac1/GDD_AC1.md; docs/delivery/ac1/evidence/sky_showcase_Windows/08_2100_noite.png.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 são ganhos por morte de inimigos de onda, 15 cada. Domesticar neutraliza mas não dá essa recompensa. Armadilha: 15 dano e 3 cargas; limite 3 ativas.</a:t>
            </a:r>
          </a:p>
          <a:p xmlns:a="http://schemas.openxmlformats.org/drawingml/2006/main">
            <a:r>
              <a:t>Fonte: docs/ac1/GDD_AC1.md; docs/delivery/ac1/evidence/build_showcase_Windows/10_armadilha_ativada_noite.png.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HUD mostra valores reais. Jogador tem 100 HP; proteção pós-respawn 1,5 s. Refúgio tem 100 HP. Pausa, reinício e retorno ao menu preservam contrato de nova sessão.</a:t>
            </a:r>
          </a:p>
          <a:p xmlns:a="http://schemas.openxmlformats.org/drawingml/2006/main">
            <a:r>
              <a:t>Fonte: docs/ac1/GDD_AC1.md; docs/delivery/ac1/evidence/hud_showcase_Windows/hud_atual_dia_1920.png.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internas: vegetação e pedras do mapa real; ciclo de luz; modelos low-poly e UI. Não foram usadas obras externas como colagem.</a:t>
            </a:r>
          </a:p>
          <a:p xmlns:a="http://schemas.openxmlformats.org/drawingml/2006/main">
            <a:r>
              <a:t>Fonte: docs/ac1/GDD_AC1.md; assets do próprio projeto.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 do jogo derivado do menu atual. O antigo logo Tower Defense Dino foi preservado como histórico e não deve ser usado nesta entrega. Paleta e uso em IDENTIDADE.md.</a:t>
            </a:r>
          </a:p>
          <a:p xmlns:a="http://schemas.openxmlformats.org/drawingml/2006/main">
            <a:r>
              <a:t>Fonte: docs/ac1/GDD_AC1.md; assets do próprio projeto.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Preço é hipótese escolar, não pesquisa de mercado nem preço publicado. Revisar após definir produto/custos. Não existe loja no protótipo.</a:t>
            </a:r>
          </a:p>
          <a:p xmlns:a="http://schemas.openxmlformats.org/drawingml/2006/main">
            <a:r>
              <a:t>Fonte: docs/ac1/GDD_AC1.md; assets do próprio projeto.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 de testes: TESTES.md e evidence. Automação verifica regras, não aprovação humana de dificuldade/áudio. Captura territorial preparada pela cena de demonstração.</a:t>
            </a:r>
          </a:p>
          <a:p xmlns:a="http://schemas.openxmlformats.org/drawingml/2006/main">
            <a:r>
              <a:t>Fonte: docs/ac1/GDD_AC1.md; docs/delivery/ac1/evidence/territory_showcase_Windows/12_leste_recuperada_hud_3de3.png.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Equipe documentada: Murilo Cassetti, Heitor Crispim, Pedro Ferreira, Juan Carlos. TRELLO-CHECKLIST.md relaciona arquivos e cards. Prazo original 04/10/2026; confirmar aceitação do envio. Nada foi publicado automaticamente.</a:t>
            </a:r>
          </a:p>
          <a:p xmlns:a="http://schemas.openxmlformats.org/drawingml/2006/main">
            <a:r>
              <a:t>Fonte: docs/ac1/GDD_AC1.md; assets do próprio projeto. Código, modelos e música: produção assistida por IA conforme créditos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928c98d6849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38502b36714fae" /><Relationship Type="http://schemas.openxmlformats.org/officeDocument/2006/relationships/slideLayout" Target="/ppt/slideLayouts/slideLayout1.xml" Id="R5f474d2aa14548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474d2aa14548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01b9829454589" /><Relationship Type="http://schemas.openxmlformats.org/officeDocument/2006/relationships/image" Target="/ppt/media/image.png" Id="R7e97d894aac8452a" /><Relationship Type="http://schemas.openxmlformats.org/officeDocument/2006/relationships/notesSlide" Target="/ppt/notesSlides/notesSlide1.xml" Id="Rc45ada407c9647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0a0affdf944ad" /><Relationship Type="http://schemas.openxmlformats.org/officeDocument/2006/relationships/image" Target="/ppt/media/image2.png" Id="Ref0033439fcb42c3" /><Relationship Type="http://schemas.openxmlformats.org/officeDocument/2006/relationships/notesSlide" Target="/ppt/notesSlides/notesSlide2.xml" Id="Rfdbb567882f74f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b475d41ba40e1" /><Relationship Type="http://schemas.openxmlformats.org/officeDocument/2006/relationships/image" Target="/ppt/media/image3.png" Id="R17e938893f354768" /><Relationship Type="http://schemas.openxmlformats.org/officeDocument/2006/relationships/notesSlide" Target="/ppt/notesSlides/notesSlide3.xml" Id="Rf66f7beee33846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099ec08854a9a" /><Relationship Type="http://schemas.openxmlformats.org/officeDocument/2006/relationships/image" Target="/ppt/media/image4.png" Id="R942db31519d8442d" /><Relationship Type="http://schemas.openxmlformats.org/officeDocument/2006/relationships/notesSlide" Target="/ppt/notesSlides/notesSlide4.xml" Id="R85bfbc6cdd0643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c7ca620b24868" /><Relationship Type="http://schemas.openxmlformats.org/officeDocument/2006/relationships/image" Target="/ppt/media/image5.png" Id="Rf7c88dce505d423c" /><Relationship Type="http://schemas.openxmlformats.org/officeDocument/2006/relationships/notesSlide" Target="/ppt/notesSlides/notesSlide5.xml" Id="Re0fdf376c1484a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041d68cd441f0" /><Relationship Type="http://schemas.openxmlformats.org/officeDocument/2006/relationships/image" Target="/ppt/media/image6.png" Id="Rdaa2cf0c6b184863" /><Relationship Type="http://schemas.openxmlformats.org/officeDocument/2006/relationships/image" Target="/ppt/media/image7.png" Id="Rc0caed6bb2f84a14" /><Relationship Type="http://schemas.openxmlformats.org/officeDocument/2006/relationships/image" Target="/ppt/media/image8.png" Id="Ra52570b763fe4b15" /><Relationship Type="http://schemas.openxmlformats.org/officeDocument/2006/relationships/notesSlide" Target="/ppt/notesSlides/notesSlide6.xml" Id="R982a2c5d17c241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c034dcfdd40bf" /><Relationship Type="http://schemas.openxmlformats.org/officeDocument/2006/relationships/image" Target="/ppt/media/image9.png" Id="R37d852f7765a47c1" /><Relationship Type="http://schemas.openxmlformats.org/officeDocument/2006/relationships/notesSlide" Target="/ppt/notesSlides/notesSlide7.xml" Id="R0cb74082557846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96b5a803d4018" /><Relationship Type="http://schemas.openxmlformats.org/officeDocument/2006/relationships/image" Target="/ppt/media/image10.png" Id="Rcd54ac18d941436b" /><Relationship Type="http://schemas.openxmlformats.org/officeDocument/2006/relationships/notesSlide" Target="/ppt/notesSlides/notesSlide8.xml" Id="R253fd1f5d0494e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04b06c56040fd" /><Relationship Type="http://schemas.openxmlformats.org/officeDocument/2006/relationships/image" Target="/ppt/media/image11.png" Id="Rc1eee027e2f149fd" /><Relationship Type="http://schemas.openxmlformats.org/officeDocument/2006/relationships/notesSlide" Target="/ppt/notesSlides/notesSlide9.xml" Id="R9e76644f0b934b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b0ce8a15f471a" /><Relationship Type="http://schemas.openxmlformats.org/officeDocument/2006/relationships/image" Target="/ppt/media/image12.png" Id="R33e7413ece23477e" /><Relationship Type="http://schemas.openxmlformats.org/officeDocument/2006/relationships/notesSlide" Target="/ppt/notesSlides/notesSlide10.xml" Id="Rbb7ef89ca01743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4161404924d17" /><Relationship Type="http://schemas.openxmlformats.org/officeDocument/2006/relationships/image" Target="/ppt/media/image13.png" Id="R7397955947864fb3" /><Relationship Type="http://schemas.openxmlformats.org/officeDocument/2006/relationships/notesSlide" Target="/ppt/notesSlides/notesSlide11.xml" Id="R26b216ede89949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95388670347e9" /><Relationship Type="http://schemas.openxmlformats.org/officeDocument/2006/relationships/image" Target="/ppt/media/image14.png" Id="R330a854716eb4bd9" /><Relationship Type="http://schemas.openxmlformats.org/officeDocument/2006/relationships/notesSlide" Target="/ppt/notesSlides/notesSlide12.xml" Id="R0f5427bce9a443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0c119c71b4ecd" /><Relationship Type="http://schemas.openxmlformats.org/officeDocument/2006/relationships/image" Target="/ppt/media/image15.png" Id="R4ae0b435416e45f0" /><Relationship Type="http://schemas.openxmlformats.org/officeDocument/2006/relationships/image" Target="/ppt/media/image16.png" Id="Rb1d36088bddc43fb" /><Relationship Type="http://schemas.openxmlformats.org/officeDocument/2006/relationships/image" Target="/ppt/media/image17.png" Id="Rcb1b4a1b21354493" /><Relationship Type="http://schemas.openxmlformats.org/officeDocument/2006/relationships/image" Target="/ppt/media/image18.png" Id="R606d02af8aa848ca" /><Relationship Type="http://schemas.openxmlformats.org/officeDocument/2006/relationships/notesSlide" Target="/ppt/notesSlides/notesSlide13.xml" Id="R127cf217387c42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ccbdc170342e5" /><Relationship Type="http://schemas.openxmlformats.org/officeDocument/2006/relationships/image" Target="/ppt/media/image19.png" Id="R01ffcad47ae94a20" /><Relationship Type="http://schemas.openxmlformats.org/officeDocument/2006/relationships/image" Target="/ppt/media/image20.png" Id="Re6f04c7fa3b5416b" /><Relationship Type="http://schemas.openxmlformats.org/officeDocument/2006/relationships/image" Target="/ppt/media/image.svg" Id="R14f88ab432c7479a" /><Relationship Type="http://schemas.openxmlformats.org/officeDocument/2006/relationships/notesSlide" Target="/ppt/notesSlides/notesSlide14.xml" Id="R52aedafa624749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da65b00444e80" /><Relationship Type="http://schemas.openxmlformats.org/officeDocument/2006/relationships/notesSlide" Target="/ppt/notesSlides/notesSlide15.xml" Id="R8578ec313eb446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ba5530c1142b3" /><Relationship Type="http://schemas.openxmlformats.org/officeDocument/2006/relationships/image" Target="/ppt/media/image21.png" Id="R9a5b707b085d4202" /><Relationship Type="http://schemas.openxmlformats.org/officeDocument/2006/relationships/notesSlide" Target="/ppt/notesSlides/notesSlide16.xml" Id="R48e38e05822946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1155f2eb14a76" /><Relationship Type="http://schemas.openxmlformats.org/officeDocument/2006/relationships/notesSlide" Target="/ppt/notesSlides/notesSlide17.xml" Id="R4972cc69bbc74d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D03C1-AB70-4438-BEE0-99FCE8A6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F362D-4958-4ECD-83A7-1DD32923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Jadefall: Guardiões do Refúgio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D8ADD-2768-4AA4-A176-FF1DAE37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AC1 • Protótipo Jogo</a:t>
            </a:r>
          </a:p>
          <a:p xmlns:a="http://schemas.openxmlformats.org/drawingml/2006/main">
            <a:pPr>
              <a:defRPr sz="225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Inity Pixel · FIAP School</a:t>
            </a:r>
          </a:p>
          <a:p xmlns:a="http://schemas.openxmlformats.org/drawingml/2006/main">
            <a:pPr>
              <a:defRPr sz="225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07 de outubro de 2026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7d894aac8452a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D5F8E-97C5-4560-B94D-7F00B63D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9CE2F-694E-47F0-9055-56DE99E0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9588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D1F39-604F-4E01-B9B2-390B0B65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A4956-2215-4670-95C4-7974A115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Conceito do jogo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8C462-158E-4C70-9C40-9FF92005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Ação 3D + defesa de território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Explorar um vale, formar aliados e preparar o Refúgio para a noite.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Eliminar ou domesticar muda a estratégia.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033439fcb42c3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D226D-F16E-4491-A5F3-80EC2242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61070-2D68-4ACA-B0CD-F66B4084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8224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7D82E-9D3C-4BD5-B7EA-9E36CFD4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6B8EA-BB76-426D-8419-125D00E9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História do vale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CFB58-0408-42D7-B8C8-DE9B1110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Uma comunidade protege seu Refúgio de criaturas noturnas.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O Guardião transforma ameaças em companheiros.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Lore proposta; aprovação do grupo pendente.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938893f354768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9F314-5CE6-4497-AC4C-E98D25A8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F9018-8C52-48CB-9AA8-2AB05893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8567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34BD3-B36D-46AD-888D-A7F8F410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1D250-14A3-4A29-9869-11979B9E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Core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E14FE-1D6B-4618-891D-F4646191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Explorar e coletar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Combater ou domesticar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Recuperar áreas e preparar defesas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Sobreviver à noite e repetir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db31519d8442d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E2F85-7FB7-4ABB-83CA-D5E594E3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44FDF-467F-4B54-B42F-5268A7D5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6429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2BB1D-D249-4D2C-88C9-2B673ADE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0B0AC-7028-4651-8F6F-90E3E981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Gameplay e controles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DC68F-6782-45AF-A889-B2664C49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WASD move · mouse mira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Clique ataca e coleta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E domestica / recupera marco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F posiciona aliado de dia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 constrói / melhora torre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I inventário · B construção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R gira · H cura · Esc pausa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88dce505d423c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46447-22F5-4332-B895-59077D00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4F34A-BCD5-4837-A537-13CFE97A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58570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D8CDA-D023-4E52-BF94-EECADE66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F8245-9073-4E5E-809E-81CD2784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Personagem e criaturas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A8A1E-F034-4FA6-914C-DB470DA4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Guardião com machado, túnica e lenço jade.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Dino selvagem pode virar aliado.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Carnotauro existe como variante; não compõe a onda padrão.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2cf0c6b184863"/>
          <a:stretch xmlns:a="http://schemas.openxmlformats.org/drawingml/2006/main"/>
        </p:blipFill>
        <p:spPr>
          <a:xfrm xmlns:a="http://schemas.openxmlformats.org/drawingml/2006/main">
            <a:off x="4810125" y="1866602"/>
            <a:ext cx="3286125" cy="1848445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aed6bb2f84a14"/>
          <a:stretch xmlns:a="http://schemas.openxmlformats.org/drawingml/2006/main"/>
        </p:blipFill>
        <p:spPr>
          <a:xfrm xmlns:a="http://schemas.openxmlformats.org/drawingml/2006/main">
            <a:off x="8334375" y="1866602"/>
            <a:ext cx="3286125" cy="1848445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570b763fe4b15"/>
          <a:stretch xmlns:a="http://schemas.openxmlformats.org/drawingml/2006/main"/>
        </p:blipFill>
        <p:spPr>
          <a:xfrm xmlns:a="http://schemas.openxmlformats.org/drawingml/2006/main">
            <a:off x="6524625" y="3904952"/>
            <a:ext cx="3286125" cy="184844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5CA1C-30DD-45BF-86C8-358FB4E5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67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Guardião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099B7-5161-447D-B39C-8B069D1C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671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Dino selvagem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25132-3071-4162-9BEB-ECD9AA03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007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Carnotauro • variante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12D14-4A95-436A-B100-139A3072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7D5B9-40C7-477D-8FE5-B9CDB7B5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52514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84FF8-E1ED-4E7B-998D-ED6BA26F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C12FE-4BBF-4D2E-A039-18BC2B88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Level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3AA08-6280-47B6-949F-3A276CE5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Uma arena de 48 × 52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Refúgio e construção ao sul.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Bosque a oeste; rochas a leste.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Ruína e corredor ao norte.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Três rotas atacam a base.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852f7765a47c1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F345B-9441-4F1E-8F9B-445694A7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A224E-F1F1-49F7-9A6E-009ECAE6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03211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846D8-DE6B-4585-8961-9EF8365A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0F058-80D8-4D5F-AF6C-AD050081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Coleta e construção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AC79A-88A4-487B-AB73-76FACA18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Madeira e pedra vêm de recursos atacáveis.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Inventário mostra materiais e receitas.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Fogueira cura; Armadilha protege rotas. Construção só de dia.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4ac18d941436b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2C76C-556C-40F1-AA25-1B9F078F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A4F79-EAC0-42C1-A3CA-C1650189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61688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E9D1F-C4A8-45C6-A47C-71CF033F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CF08A-34D4-4EFD-806D-A7D82515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Combate e domesticação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896DE-90E0-44DE-9B8C-3E31AFF4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Golpe: 15 de dano.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Quatro golpes deixam 20/80 HP.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Segure E por 2 s para converter.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O aliado volta com 80/80 HP.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F alterna seguir / ficar de dia.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ee027e2f149fd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604E4-1066-4969-B000-5D614951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8F5E-FD40-4CC3-8F9E-D451FB87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1994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7A595-93C3-4DFF-AE93-257E4E67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7C74A-5B96-419C-ACD8-9BBC33A9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Dia e noite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17AAE-99D1-402B-A5E4-FF3C9407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90 s para preparar.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A noite traz ondas crescentes.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O relógio para em 05:59 se ainda houver ameaças.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Só vencer a onda traz o novo dia.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7413ece23477e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8633C-BB34-4903-BC42-B46C058F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76333-CE70-4777-9669-05BB0AF1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472479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5B9F7-67D1-4452-8048-8C494F83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7B9E9-8996-4D91-AC3E-41A65BAB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Torres e defesa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B89B9-67B8-4D1A-8A12-77351359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40 Pontos de Defesa iniciais.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30 PD constroem uma torre.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Três níveis de torre; seis pontos fixos.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Aliados e armadilhas complementam a defesa.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7955947864fb3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878AC-B443-4B74-9D7A-59BD4977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4CD1B-476D-4BA1-A399-5C29049F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94614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4AADC-87FF-40F2-AD70-FBD07789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4B46E-C3A1-48AC-A008-72568E69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Interface e sobrevivência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2D412-860E-4A9D-B44F-7A8C09E0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HP do jogador e Refúgio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Dia, hora e progresso da onda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Madeira, pedra e PD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Territórios recuperados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Morte: respawn em 2 s.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Base destruída: derrota.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a854716eb4bd9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F08CD-84DF-490C-A07E-B0B50B02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1AEBB-2453-450C-A79E-7619CFC2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271608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E4E02-32E5-4D31-82F1-F60E7B72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4504C-334C-4D31-91D5-691379E6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Moodboard do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781BC-1DC3-4B5C-869C-50D377A9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Low-poly · materiais foscos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Verdes naturais · jade de vínculo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Âmbar de foco · noite fria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Pedra, madeira, cristal e luz local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0b435416e45f0"/>
          <a:stretch xmlns:a="http://schemas.openxmlformats.org/drawingml/2006/main"/>
        </p:blipFill>
        <p:spPr>
          <a:xfrm xmlns:a="http://schemas.openxmlformats.org/drawingml/2006/main">
            <a:off x="4810125" y="1718965"/>
            <a:ext cx="3286125" cy="1848445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36088bddc43fb"/>
          <a:stretch xmlns:a="http://schemas.openxmlformats.org/drawingml/2006/main"/>
        </p:blipFill>
        <p:spPr>
          <a:xfrm xmlns:a="http://schemas.openxmlformats.org/drawingml/2006/main">
            <a:off x="8334375" y="1718965"/>
            <a:ext cx="3286125" cy="184844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b4a1b21354493"/>
          <a:stretch xmlns:a="http://schemas.openxmlformats.org/drawingml/2006/main"/>
        </p:blipFill>
        <p:spPr>
          <a:xfrm xmlns:a="http://schemas.openxmlformats.org/drawingml/2006/main">
            <a:off x="4810125" y="3814465"/>
            <a:ext cx="3286125" cy="1848445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d02af8aa848ca"/>
          <a:stretch xmlns:a="http://schemas.openxmlformats.org/drawingml/2006/main"/>
        </p:blipFill>
        <p:spPr>
          <a:xfrm xmlns:a="http://schemas.openxmlformats.org/drawingml/2006/main">
            <a:off x="8334375" y="3814465"/>
            <a:ext cx="3286125" cy="184844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17E48-0992-487C-A482-3B358AB4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566C9-3934-47B7-8EEE-E81FA84D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5042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69F47-47D7-446C-800D-367BCE93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B5E8A-C222-4F07-AE98-B3B2E6EF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Identidade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2F150-996B-42A9-9973-346B8274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ESTÚDIO  Inity Pixel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JOGO  Jadefall: Guardiões do Refúgio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Pixels na marca do estúdio.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Cristais e título âmbar/jade no jogo.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Grafias distintas preservadas.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fcad47ae94a20"/>
          <a:stretch xmlns:a="http://schemas.openxmlformats.org/drawingml/2006/main"/>
        </p:blipFill>
        <p:spPr>
          <a:xfrm xmlns:a="http://schemas.openxmlformats.org/drawingml/2006/main">
            <a:off x="4953000" y="1809750"/>
            <a:ext cx="6191250" cy="13811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04c7fa3b5416b">
            <a:extLst>
              <a:ext uri="{96DAC541-7B7A-43D3-8B79-37D633B846F1}">
                <asvg:svgBlip xmlns:asvg="http://schemas.microsoft.com/office/drawing/2016/SVG/main" r:embed="R14f88ab432c747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3000" y="3429000"/>
            <a:ext cx="6191250" cy="1857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903C3-1B45-4DC2-89B0-777A036E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244BB-A57C-4735-9581-19042CE9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514710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CF935-0398-4D72-B63C-3DFE2534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CEA2C-F2ED-4B68-9A3F-4E721888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Monetização proposta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1B866-CD08-4234-BB30-FCC9C376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AC1 gratuita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Versão futura por compra única, com demonstração gratuita.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Hipótese: R$ 19,90.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Sem vender vantagens, vidas ou recursos.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F905E-E1B7-4EE4-A0C0-5F49B301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673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7AE5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7AE58"/>
                </a:solidFill>
                <a:latin typeface="Arial"/>
                <a:ea typeface="Arial"/>
                <a:cs typeface="Arial"/>
              </a:rPr>
              <a:t>COMPRA ÚNICA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11C95-51BA-4C52-908F-831BD490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298A1-D5BB-40D0-B60A-F25D0BE7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33142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31B86-EE00-49FF-AEFD-AEAD02FC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5A4F3-A4B4-492A-8566-5F8391B0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Estado atual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29240-5B71-4857-A9D9-391B9418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000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Core loop implementado na Godot.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Menu, HUD, arte e trilha existentes.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Territórios e construções funcionais.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Regressões executadas; resultados no relatório.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Spec 015 ainda requer playtest do grupo.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b707b085d4202"/>
          <a:stretch xmlns:a="http://schemas.openxmlformats.org/drawingml/2006/main"/>
        </p:blipFill>
        <p:spPr>
          <a:xfrm xmlns:a="http://schemas.openxmlformats.org/drawingml/2006/main">
            <a:off x="4810125" y="183921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C04AB-6D43-4ACC-9C23-3704FFA7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87BA1-D7E4-4219-927A-492520F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160021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3E0AE-6FC2-445B-8B18-4F246124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BE9B"/>
                </a:solidFill>
                <a:latin typeface="Arial"/>
                <a:ea typeface="Arial"/>
                <a:cs typeface="Arial"/>
              </a:rPr>
              <a:t>INITY PIXEL  /  AC1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CB446-74FA-4EB8-BBD8-5B2BFC33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E8CE"/>
                </a:solidFill>
                <a:latin typeface="Arial"/>
                <a:ea typeface="Arial"/>
                <a:cs typeface="Arial"/>
              </a:rPr>
              <a:t>Entrega e próximos passos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C9F03-FBA8-41BC-A03F-1CBC7C50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Conferir lore, identidade e áudio.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Definir responsáveis e Game Designer.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Anexar materiais nos cards do Trello.</a:t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Publicar esta versão no GitHub, após 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2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8CE"/>
                </a:solidFill>
                <a:latin typeface="Arial"/>
                <a:ea typeface="Arial"/>
                <a:cs typeface="Arial"/>
              </a:rPr>
              <a:t>Game Designer envia o link do quadro.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FED41-9F33-495B-86C5-EA6DB6AB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53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PROTÓTIPO ACADÊMICO  •  GODOT 4.6.2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E7C72-2843-4CFE-B964-30595133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9BE9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BE9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51003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2026-10-07T12:48:27.0940000Z</dcterms:created>
  <dcterms:modified xsi:type="dcterms:W3CDTF">2026-10-07T12:48:27.0940000Z</dcterms:modified>
</coreProperties>
</file>