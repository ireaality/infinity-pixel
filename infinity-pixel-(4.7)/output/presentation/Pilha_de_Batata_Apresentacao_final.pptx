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5820fb2e3348b0" /><Relationship Type="http://schemas.openxmlformats.org/officeDocument/2006/relationships/extended-properties" Target="/docProps/app.xml" Id="R9fc30ded25a54e10" /><Relationship Type="http://schemas.openxmlformats.org/officeDocument/2006/relationships/officeDocument" Target="/ppt/presentation.xml" Id="R1184466ea217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085cffc9e482a"/>
  </p:sldMasterIdLst>
  <p:notesMasterIdLst>
    <p:notesMasterId xmlns:r="http://schemas.openxmlformats.org/officeDocument/2006/relationships" r:id="Rac8d15ab453144fa"/>
  </p:notesMasterIdLst>
  <p:sldIdLst>
    <p:sldId xmlns:r="http://schemas.openxmlformats.org/officeDocument/2006/relationships" id="256" r:id="R4514e28a54994b41"/>
    <p:sldId xmlns:r="http://schemas.openxmlformats.org/officeDocument/2006/relationships" id="257" r:id="R410ffc1b970640ba"/>
    <p:sldId xmlns:r="http://schemas.openxmlformats.org/officeDocument/2006/relationships" id="258" r:id="R7ed6072348a74de8"/>
    <p:sldId xmlns:r="http://schemas.openxmlformats.org/officeDocument/2006/relationships" id="259" r:id="R4a2e5e8206b0430f"/>
    <p:sldId xmlns:r="http://schemas.openxmlformats.org/officeDocument/2006/relationships" id="260" r:id="Rec31872679b548e8"/>
    <p:sldId xmlns:r="http://schemas.openxmlformats.org/officeDocument/2006/relationships" id="261" r:id="Rac70f7b936454823"/>
    <p:sldId xmlns:r="http://schemas.openxmlformats.org/officeDocument/2006/relationships" id="262" r:id="R95cf0b39a73345c8"/>
    <p:sldId xmlns:r="http://schemas.openxmlformats.org/officeDocument/2006/relationships" id="263" r:id="Ra0f7d93bc7884abd"/>
    <p:sldId xmlns:r="http://schemas.openxmlformats.org/officeDocument/2006/relationships" id="264" r:id="R3141637c10664c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fee4c7c8e43f8" /><Relationship Type="http://schemas.openxmlformats.org/officeDocument/2006/relationships/slideMaster" Target="/ppt/slideMasters/slideMaster1.xml" Id="R0ce085cffc9e482a" /><Relationship Type="http://schemas.openxmlformats.org/officeDocument/2006/relationships/notesMaster" Target="/ppt/notesMasters/notesMaster1.xml" Id="Rac8d15ab453144fa" /><Relationship Type="http://schemas.openxmlformats.org/officeDocument/2006/relationships/presProps" Target="/ppt/presProps.xml" Id="R5140525eab6b4618" /><Relationship Type="http://schemas.openxmlformats.org/officeDocument/2006/relationships/tableStyles" Target="/ppt/tableStyles.xml" Id="Rbe4ee63a6ab24af7" /><Relationship Type="http://schemas.openxmlformats.org/officeDocument/2006/relationships/slide" Target="/ppt/slides/slide1.xml" Id="R4514e28a54994b41" /><Relationship Type="http://schemas.openxmlformats.org/officeDocument/2006/relationships/slide" Target="/ppt/slides/slide2.xml" Id="R410ffc1b970640ba" /><Relationship Type="http://schemas.openxmlformats.org/officeDocument/2006/relationships/slide" Target="/ppt/slides/slide3.xml" Id="R7ed6072348a74de8" /><Relationship Type="http://schemas.openxmlformats.org/officeDocument/2006/relationships/slide" Target="/ppt/slides/slide4.xml" Id="R4a2e5e8206b0430f" /><Relationship Type="http://schemas.openxmlformats.org/officeDocument/2006/relationships/slide" Target="/ppt/slides/slide5.xml" Id="Rec31872679b548e8" /><Relationship Type="http://schemas.openxmlformats.org/officeDocument/2006/relationships/slide" Target="/ppt/slides/slide6.xml" Id="Rac70f7b936454823" /><Relationship Type="http://schemas.openxmlformats.org/officeDocument/2006/relationships/slide" Target="/ppt/slides/slide7.xml" Id="R95cf0b39a73345c8" /><Relationship Type="http://schemas.openxmlformats.org/officeDocument/2006/relationships/slide" Target="/ppt/slides/slide8.xml" Id="Ra0f7d93bc7884abd" /><Relationship Type="http://schemas.openxmlformats.org/officeDocument/2006/relationships/slide" Target="/ppt/slides/slide9.xml" Id="R3141637c10664c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c4052faac48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288a3cb63044d9" /><Relationship Type="http://schemas.openxmlformats.org/officeDocument/2006/relationships/notesMaster" Target="/ppt/notesMasters/notesMaster1.xml" Id="R45c06ac6b48e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36fbdb8924e34" /><Relationship Type="http://schemas.openxmlformats.org/officeDocument/2006/relationships/notesMaster" Target="/ppt/notesMasters/notesMaster1.xml" Id="R93bf4f83ac5746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5002b43a94324" /><Relationship Type="http://schemas.openxmlformats.org/officeDocument/2006/relationships/notesMaster" Target="/ppt/notesMasters/notesMaster1.xml" Id="Raeb5fce9346f44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0bdfefbac424b" /><Relationship Type="http://schemas.openxmlformats.org/officeDocument/2006/relationships/notesMaster" Target="/ppt/notesMasters/notesMaster1.xml" Id="R7acfa04e69ef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200ac6a3fb4c03" /><Relationship Type="http://schemas.openxmlformats.org/officeDocument/2006/relationships/notesMaster" Target="/ppt/notesMasters/notesMaster1.xml" Id="R0bdf425484f740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3177e6d02d4123" /><Relationship Type="http://schemas.openxmlformats.org/officeDocument/2006/relationships/notesMaster" Target="/ppt/notesMasters/notesMaster1.xml" Id="Rbc53d36cfd0546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c7c96d3a6a4329" /><Relationship Type="http://schemas.openxmlformats.org/officeDocument/2006/relationships/notesMaster" Target="/ppt/notesMasters/notesMaster1.xml" Id="Rdbfbc78dc290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dc6a00b194f93" /><Relationship Type="http://schemas.openxmlformats.org/officeDocument/2006/relationships/notesMaster" Target="/ppt/notesMasters/notesMaster1.xml" Id="Rb37a7325beaa4d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c4689a4d25440b" /><Relationship Type="http://schemas.openxmlformats.org/officeDocument/2006/relationships/notesMaster" Target="/ppt/notesMasters/notesMaster1.xml" Id="Rc41d2d2a674946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da ilustração: imagem criada para esta apresentação com IA generativa. A imagem é conceitual e não substitui as fotos reais do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nas orientações fornecidas no PDF do trabalho: montagem da pilha caseira, medição com multímetro, funcionamento de um LED e explicação química.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quantidade de seis batatas foi escolhida para aumentar a chance de o LED acender. Fontes consultadas: https://heyplix.mit.edu/t/alternatives-to-coin-cell-batteries/1703 e https://www.unco.edu/nhs/science/pdf/demos/Chemistry_Demos.pdf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Fale durante a apresentação: a batata fornece o meio úmido com íons. Ela não deve ser consumida depois do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University of Northern Colorado, Potato Battery: https://www.unco.edu/nhs/science/pdf/demos/Chemistry_Demos.pdf. University of Illinois Physics Van: https://van.physics.illinois.edu/ask/listing/2396. Observação: cada célula tem zinco negativo e cobre positivo. Em série, conecta-se o polo positivo de uma célula ao negativo da seguinte.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para a explicação da célula Zn/Cu com batata: https://anaisonline.uems.br/seminarioformacaodocente/article/download/10511/9659/24891 e University of Illinois Physics Van: https://van.physics.illinois.edu/ask/listing/2400. O cobre atua principalmente como superfície condutora para a redução; não há solução preparada de íons Cu2+ como na pilha de Daniell.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Preencher este slide somente depois do teste real. Não inventar o valor do multímetro. Fotografar a leitura com os dígitos visíveis e o LED em ambiente mais escuro se o brilho estiver fraco.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conclusão deve refletir o teste real. Se o LED não acendeu, isso não elimina a produção de tensão. Explique a resistência interna elevada e use a leitura do multímetro como evidência.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completas:</a:t>
            </a:r>
          </a:p>
          <a:p xmlns:a="http://schemas.openxmlformats.org/drawingml/2006/main">
            <a:r>
              <a:t>1. Documento fornecido pelo professor: C:/Users/ppfti/OneDrive/Desktop/o que fazer batata inglesa.pdf</a:t>
            </a:r>
          </a:p>
          <a:p xmlns:a="http://schemas.openxmlformats.org/drawingml/2006/main">
            <a:r>
              <a:t>2. University of Northern Colorado. Potato Battery. https://www.unco.edu/nhs/science/pdf/demos/Chemistry_Demos.pdf</a:t>
            </a:r>
          </a:p>
          <a:p xmlns:a="http://schemas.openxmlformats.org/drawingml/2006/main">
            <a:r>
              <a:t>3. University of Illinois Physics Van. How Many Potatoes in a Potato Battery? https://van.physics.illinois.edu/ask/listing/2396</a:t>
            </a:r>
          </a:p>
          <a:p xmlns:a="http://schemas.openxmlformats.org/drawingml/2006/main">
            <a:r>
              <a:t>4. University of Illinois Physics Van. Potato Battery. https://van.physics.illinois.edu/ask/listing/2400</a:t>
            </a:r>
          </a:p>
          <a:p xmlns:a="http://schemas.openxmlformats.org/drawingml/2006/main">
            <a:r>
              <a:t>5. MIT PLIX. Alternatives to coin-cell batteries. https://heyplix.mit.edu/t/alternatives-to-coin-cell-batteries/1703</a:t>
            </a:r>
          </a:p>
          <a:p xmlns:a="http://schemas.openxmlformats.org/drawingml/2006/main">
            <a:r>
              <a:t>6. Vídeo: Pilha de Batata (ou Batateria). https://www.youtube.com/watch?v=sgajFGJ7g5Q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af6667f6c4f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323205e5849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1216ef5b846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025546ae44c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3dfc78ec143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27bbad0484a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BC7A6-4651-488A-B4F8-8821B7483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80104F-02B6-4DB8-8C31-95068311D6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673ACB-D36D-4D5A-A527-78C6F32A49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EA37FD-62F9-4318-8A2D-F52DFF889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7F3B4D-5F23-4E05-BD25-F0DB4DD33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66411-67C8-48A4-8606-5563E2CC4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B06155-5ED3-4FF9-A24E-414BE59AA9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D60DC9-E119-4AD2-9712-E40FC473ED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6239D-EB25-4A2A-BD6F-20B9386B6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6C79BF-4CA0-44C8-B869-55B061A21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d88ffaab240f0" /><Relationship Type="http://schemas.openxmlformats.org/officeDocument/2006/relationships/slideLayout" Target="/ppt/slideLayouts/slideLayout1.xml" Id="Ra60b631416cc46f1" /><Relationship Type="http://schemas.openxmlformats.org/officeDocument/2006/relationships/slideLayout" Target="/ppt/slideLayouts/slideLayout2.xml" Id="Rfef04184add648cc" /><Relationship Type="http://schemas.openxmlformats.org/officeDocument/2006/relationships/slideLayout" Target="/ppt/slideLayouts/slideLayout3.xml" Id="Rc2ac55b7e5cf4aab" /><Relationship Type="http://schemas.openxmlformats.org/officeDocument/2006/relationships/slideLayout" Target="/ppt/slideLayouts/slideLayout4.xml" Id="R94a954bcfc4441e9" /><Relationship Type="http://schemas.openxmlformats.org/officeDocument/2006/relationships/slideLayout" Target="/ppt/slideLayouts/slideLayout5.xml" Id="Re5f3dd3ab2a34aa1" /><Relationship Type="http://schemas.openxmlformats.org/officeDocument/2006/relationships/slideLayout" Target="/ppt/slideLayouts/slideLayout6.xml" Id="R27e7e700b0d248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b631416cc46f1"/>
    <p:sldLayoutId xmlns:r="http://schemas.openxmlformats.org/officeDocument/2006/relationships" id="2147483650" r:id="Rfef04184add648cc"/>
    <p:sldLayoutId xmlns:r="http://schemas.openxmlformats.org/officeDocument/2006/relationships" id="2147483651" r:id="Rc2ac55b7e5cf4aab"/>
    <p:sldLayoutId xmlns:r="http://schemas.openxmlformats.org/officeDocument/2006/relationships" id="2147483652" r:id="R94a954bcfc4441e9"/>
    <p:sldLayoutId xmlns:r="http://schemas.openxmlformats.org/officeDocument/2006/relationships" id="2147483653" r:id="Re5f3dd3ab2a34aa1"/>
    <p:sldLayoutId xmlns:r="http://schemas.openxmlformats.org/officeDocument/2006/relationships" id="2147483654" r:id="R27e7e700b0d248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efb80888442fb" /><Relationship Type="http://schemas.openxmlformats.org/officeDocument/2006/relationships/image" Target="/ppt/media/image.png" Id="R6c3e66a35c9b4dec" /><Relationship Type="http://schemas.openxmlformats.org/officeDocument/2006/relationships/notesSlide" Target="/ppt/notesSlides/notesSlide1.xml" Id="R330415ff1554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ff894ffdb4d8d" /><Relationship Type="http://schemas.openxmlformats.org/officeDocument/2006/relationships/notesSlide" Target="/ppt/notesSlides/notesSlide2.xml" Id="R3ceec2616962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4ac5f542a46f4" /><Relationship Type="http://schemas.openxmlformats.org/officeDocument/2006/relationships/notesSlide" Target="/ppt/notesSlides/notesSlide3.xml" Id="R1d8cb32ae7b1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33f10d2ab4382" /><Relationship Type="http://schemas.openxmlformats.org/officeDocument/2006/relationships/notesSlide" Target="/ppt/notesSlides/notesSlide4.xml" Id="Rb39e852d61634f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6d252c33d43da" /><Relationship Type="http://schemas.openxmlformats.org/officeDocument/2006/relationships/notesSlide" Target="/ppt/notesSlides/notesSlide5.xml" Id="R81fc0163ce4b49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d7819d1d24a94" /><Relationship Type="http://schemas.openxmlformats.org/officeDocument/2006/relationships/notesSlide" Target="/ppt/notesSlides/notesSlide6.xml" Id="Ra1654f321e31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1ef99e56b4646" /><Relationship Type="http://schemas.openxmlformats.org/officeDocument/2006/relationships/notesSlide" Target="/ppt/notesSlides/notesSlide7.xml" Id="R283debfacb8a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4f1604e47497d" /><Relationship Type="http://schemas.openxmlformats.org/officeDocument/2006/relationships/notesSlide" Target="/ppt/notesSlides/notesSlide8.xml" Id="R3c5d3311307f4f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89ed27f9b403a" /><Relationship Type="http://schemas.openxmlformats.org/officeDocument/2006/relationships/notesSlide" Target="/ppt/notesSlides/notesSlide9.xml" Id="Rc8f9236763db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CB3D2-4EB0-42AD-8659-A3568DAAF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e66a35c9b4d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225B1-CE65-4175-929D-5D71ACF6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7935-AA75-4189-B8FF-88521031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PILHA CASEIRA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F5ACF-35E5-4206-B344-39E4EE1F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Pilha de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batata inglesa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56D51-0202-4A89-B3A8-CD2331A8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Transformação de energia química em energia elétrica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5394B-8693-4F6C-AA84-DF9B15C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NOMES: [INSERIR INTEGRANTES]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D527C-B0A3-4B61-A1C6-30069931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TURMA: [INSERIR]     DATA: [INSERIR]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0A97A-62F7-4ABA-9C86-C68CBD4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3º ano - Química</a:t>
            </a:r>
          </a:p>
        </p:txBody>
      </p:sp>
    </p:spTree>
    <p:extLst>
      <p:ext uri="{BB962C8B-B14F-4D97-AF65-F5344CB8AC3E}">
        <p14:creationId xmlns:p14="http://schemas.microsoft.com/office/powerpoint/2010/main" val="642530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6536B-33D1-49C2-9E51-4CEA085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B669F-69EB-4B52-BD95-C02179E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Objetivo do experimento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DD754-4401-42AF-BED6-9105168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2DBE5-AA6B-4C4D-B988-68BA922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22590-6EC6-4233-A165-0972D93D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OBJETIVO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7BAE5-6146-4E67-B1C4-0257F876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Construir uma pilha caseira com batatas, cobre e zinco capaz de produzir diferença de potencial e acender um LED de baixa voltagem.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E876C-963F-4CB4-BD2F-4FEC00B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66850"/>
            <a:ext cx="37528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5491A-EE65-4602-B689-358306E4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Hipótese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D96B2-5829-436D-A749-5D20592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Ao conectar várias células de batata em série, as tensões se somam e podem superar a tensão mínima necessária para o 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F790-6CC4-405E-B74A-416A0600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 QUE SERÁ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61621-29AA-4730-8633-333CCFD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Diferença de potencial medida com multímetro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499CE-FEA3-47CD-BE0E-828B7C9F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Polaridade correta e brilho do 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73F6C-FF4C-489F-AB3E-230A6C01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Relação entre as reações químicas e o fluxo de elétrons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3CBEF-E903-48CE-B568-29F49E41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7528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C3863-7018-4CCF-B373-3ACA1811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INSERIR FOTO DO GRUPO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92055-48F0-453D-ADCF-3F9CAC4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7E147-4861-47A4-A80F-3D5E7B73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427572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AF1D5-8E17-4AA6-8B7E-5C4940B1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FABB2-CF12-4340-BA67-8BBFD3BC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Materiais utilizados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095B3-6B1D-4A74-BCB7-6F1B0C7C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D0432-307E-4B33-9D89-78DC4D3D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C9E0-58E1-471D-B01E-924808A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PARA A MONTAGEM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DB197-B1B9-44E6-A533-D0DAEC8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9187B-C24D-42DD-979E-9D57DDE1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5BBD3-3BE4-4A8B-899C-8260782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batatas inglesas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01DD2-EB8A-437E-BFF3-8ED18F64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62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Cada batata funciona como uma célula eletroquímica.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53641-372B-4833-89B6-BB50DBE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F98E5-B704-4D5A-8A7D-41C6DB33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E3749-6A95-4EF5-B8E3-68C4C5FE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pregos galvanizados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B38FE-0C1E-4344-ACCC-49824ED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 revestimento de zinco forma o polo negativo.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F062E-A7B2-4DAA-898D-5FC2EF7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34EFE-8024-4ED7-96E7-91C3D78E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5CD69-1D96-4F0D-96A4-170BB459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placas ou fios grossos de cobre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D283A-8FCA-4118-975B-1E33DDD9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71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 cobre funciona como polo positivo.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E96A1-B51B-4005-BF4C-BD14DD80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40727-752A-4698-80B8-7FACC4BD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808E4-F655-4AA5-A70F-578645E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7 fios com garras jacaré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DB6C1-CF30-4728-AF0F-DCD8DE6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Cinco ligações entre batatas e duas para o LED.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94AE9-E0B6-4559-A898-FF19104A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517EB-C3CB-498E-AEEA-F690449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2A71B-96AB-4443-A975-04071C4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LED vermelho de 5 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8F987-A469-421B-88A8-EFDF47A1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Modelo de baixo consumo e menor tensão de acionamento.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178CF-D074-4022-A9A6-74A90E47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E3637-6E87-429B-AC26-E3102D4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338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73051-F09D-456A-91CB-18C1395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Multímetro e lixa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5D959-9473-482B-9245-2892CFC4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71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Para medir a tensão e limpar os eletrodos.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8B016-293F-496E-B56D-A8A7305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57750"/>
            <a:ext cx="2743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808F6D-54C3-4695-90A8-8D99CBB3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INSERIR FOTO DOS MATERIAIS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4B492-2617-476D-9D50-605DC62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0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Foto antes da montagem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3740D-48E4-42F1-9965-D9BB118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4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Atenção: cobre e zinco precisam ser metais diferentes e não podem se tocar dentro da batata.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13D70-BD17-4324-AF83-3866452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951826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2F5D1-DA54-485B-B42A-22ACCEB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811A3-FEE6-49BB-B7FB-16E2065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Montagem das células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7232D-9039-4572-86EC-389737EC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89212-CA6B-4597-8449-3FD86A52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1A660-FA13-48BF-8552-C1AA54AD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72EB-F3AF-4C15-A68C-BF0CA702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EC774-03F8-427B-A483-E875027A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8D085-31B4-45CD-A751-8CC5C40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621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Numeramos as batatas e lixamos as superfícies do cobre e do zinco.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B432-C303-4120-8001-FAF2D250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946FC-DACD-4BA0-AEE2-73C6AEAE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46BE3-25C4-416E-AA16-D13CA607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288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Inserção dos eletrodos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F0F2E-D6AD-4FC9-8CBD-38F7BC8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Colocamos um eletrodo de cobre e um prego galvanizado em cada batata.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9DE40-BC9B-4A50-9C15-A3CE5FC7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680E6-1D66-49D3-A3F3-294B6DDA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5B11F-6A1F-48CE-8BC9-0F3EF24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Separação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B77AC-B406-4F54-A897-CCE58B4F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Mantivemos cerca de 2 a 3 cm entre os metais, sem contato interno.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AE44D-B608-4AF5-8F59-918D59C0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FEE5A-3E2F-4104-9345-14E73A7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22945-C20C-4D1E-957C-490B6E87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529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Organização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5A971-FCB6-4CAC-8C94-A06E524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Alinhamos as seis batatas para facilitar as ligações em série.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93FF0-B78E-4D01-A150-931116FF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6CE9B-A797-4A6B-915A-9801CD3A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7413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1: PREPARAÇÃO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B2E62-FFE1-49FB-8F7A-0629989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7463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62F5A-F389-431E-834E-BBE82F3E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009CD-4481-44FB-ACD9-C5CD01F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5788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2: ELETRODOS NAS BATATAS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8E315-C538-4059-B567-877B2490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5838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43A07-D0EE-4DD8-B396-1FEF32C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38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[Adicione pequenas legendas com o que está acontecendo em cada foto]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DA5F4-3B8E-4D26-A032-612A305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447052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F20D86-7F3B-4AE8-BF99-354845E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E3463-E586-4B88-925D-3169A1E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Ligação em série e polaridade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F1F6B-1024-43DD-9829-4563A165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D01E1-9C73-4AAC-A444-58E18DAC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9C740-C278-409C-A69D-EAA202ED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Ligamos o cobre de uma batata ao zinco da batata seguinte. Assim, as tensões das células se somam.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4058A-0549-4936-9E09-026F783A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C54A8-EB37-49FC-89FB-CDBCD86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6A0A5-6BE1-40E7-97F4-AF91EE8B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8C88F-9539-4F74-A242-243462C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F8FAC-6E0B-4FD8-8B89-967E647D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58CA8-29E6-44E1-8FDA-AF64CA67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26862-0B69-484A-B800-A40ACB6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B2ECD-8758-42EB-AA29-D6EB0363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487BE-E877-429C-8F96-E84DA3A8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24A2D-CE5F-421F-B608-CC0D5E35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481AA-B8E6-4CF1-9E29-23E5A0A0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7E487-6FE2-4245-9A50-1324BD76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65F18-4652-43A7-B365-F33BB005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07C71-64F4-460E-A575-F23AE8B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FA287-96CE-4D18-9D72-034EFA8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951E8-4333-4AA8-AF30-421AC8F4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51FA1-B79F-46AB-A5A8-1A91D728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CF3A8-87F0-4822-9376-DC34526B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9B742-CE8B-4AFA-B3CE-860D62A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E2AE4-B417-41DA-86EB-DF38270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7C918-8B4A-496A-A93E-8DD99ADA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9D3C4-2B7C-4081-B7E4-BD3F3DCE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256CA-D512-47E1-AF0E-04FD56E8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3D2EC1-C916-4D5D-B2FC-C152057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89645-41A8-4E67-B3F8-53A2BAE6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38783-DF8C-42C1-AA86-DD97A2FB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04555F-3ECD-447B-8C67-92486619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255CC9-E975-4824-9A87-B8E33970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403A8-3BD8-40F8-932E-1893305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066067-8FAA-43B4-B506-B7333E90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1F641-CA2E-4EBE-87D3-200AB2D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F5C0C1-ED73-4F08-990D-BD5D9D30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16ED0-9A16-4D57-A631-500D1508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5A6A86-F5C2-4FD7-B72C-DCB7764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8C5E36-8D67-4182-B551-625542AC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39DFA6-0168-4BBE-A2D5-2A19D74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4330BC-6BA0-4715-8467-027A2530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E"/>
          </a:solidFill>
          <a:ln xmlns:a="http://schemas.openxmlformats.org/drawingml/2006/main" w="9525">
            <a:solidFill>
              <a:srgbClr val="7583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51351A-5DFF-476F-B863-7CD922F0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83A"/>
          </a:solidFill>
          <a:ln xmlns:a="http://schemas.openxmlformats.org/drawingml/2006/main" w="9525">
            <a:solidFill>
              <a:srgbClr val="8E4A2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A5CAA3-1DEE-44FF-AE8F-D161991B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633809-B729-4AD2-827C-F9BBEE45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1D9E68-FFBF-4AF3-97D0-0F7CA1A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5A39F5-8DA7-42DA-9C91-A5B2D8E3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457200" cy="70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3FBB4E-E029-4BB8-8435-1F7E7D3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525E08-EF6B-40DC-82E1-44C3C16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00300"/>
            <a:ext cx="457200" cy="70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D6792D-1386-4798-BC80-BDB26AE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43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2181D3-DD6B-4202-A01F-5E17F15D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32F3DB-6793-4611-85A3-B279FE3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Polo negativo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F0503A-D9F6-422C-8E90-0515E791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Zinco livre da primeira batata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CE07B8-040B-4FE9-92FB-EAE5F24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Polo positivo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C1FA78-8CAF-4236-AA77-D82D6B27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Cobre livre da última batata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FEBDBC-9CEE-45DC-9293-62BB9DA3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91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LED: perna curta no negativo. Perna longa no positivo.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BF1B37-86CB-40C1-BE64-3D714889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2039269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7546D-B642-4929-847D-B8A120E6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5AEDE-163A-4FA9-8358-BD6FB756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Explicação química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B8F6B-427C-4955-99C4-0157176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50598-2D89-4F87-9319-3304623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31AEB-EA84-4C4C-A551-787B3D25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Explicação química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27C9B-8638-40BB-ACD0-826A3ABB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497CC-0D4B-42AA-B202-DC2C8DC7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2911F-BBF2-4F85-B872-73B75E1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Ânodo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84734-257D-463A-9152-10418C1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Zinco, polo negativo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106D1-3B45-43B6-AB30-82ED4BEF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O zinco perde elétrons e sofre oxidação.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F3651-ADF5-4485-A603-88315092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Zn(s)  →  Zn²⁺(aq) + 2 e⁻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8FC10-4CAC-4B72-BCF3-E08003A8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67E42-6E3A-4722-A8BB-9F96B40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Cátodo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D0687-57F6-4FF2-9573-1BA586D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Cobre, polo positivo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90342-59BF-4DC9-ABB7-4A393F52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Na superfície do cobre ocorre a redução de íons do meio.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E2F53-86C6-4D57-9FDC-346CA30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2 H⁺(aq) + 2 e⁻  →  H₂(g)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2AE78-9780-40EE-B25D-87510383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2190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520FF-444D-4754-B359-82144828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9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elétrons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C4EB2-5DA8-45AB-8261-E2198E44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batata funciona como eletrólito: seu meio úmido permite o movimento de íons e fecha o circuito interno.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2547A-EDE0-4663-9098-40112A2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Os elétrons percorrem o circuito externo do zinco para o cobre</a:t>
            </a:r>
          </a:p>
        </p:txBody>
      </p:sp>
    </p:spTree>
    <p:extLst>
      <p:ext uri="{BB962C8B-B14F-4D97-AF65-F5344CB8AC3E}">
        <p14:creationId xmlns:p14="http://schemas.microsoft.com/office/powerpoint/2010/main" val="637345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9756B-C2FB-43D7-B6F1-D2CA7B73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81D69-20E0-43CF-B505-6BC36BB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Resultados do teste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390F4-AAAD-4F52-9E86-3BB836F8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3B7E0-49D8-4FBE-AFE6-C2AED5DF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855D2-374C-4D80-9245-76D66613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94983-2162-4329-9385-0CE3F7B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3: LEITURA DO MULTÍMETRO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6F73C-C108-4621-90BD-BF5018E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B0470-3E36-43DA-A713-E10BFA64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A9FE8-4193-4D53-921C-B58620D5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717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4: LED ACESO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0A026-BB57-4D1D-B0CA-FE3AE882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717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55B67-8FED-43B8-A93E-2B1133DA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MEDIÇÕES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DFF2-CB4D-4158-A718-FEFC510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Tensão total medida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FBABF-4249-4448-B179-381F822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BBCC0-383A-45AA-A62B-DDC79CCF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[INSERIR]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E538E-6017-45AC-8494-EF1EDAF9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 LED acendeu?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B8B5B-139F-4417-B3F1-B9327B65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819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1D045-387F-4280-98C8-ACB402A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[SIM / NÃO / FRACO]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3E416-033D-43EE-9A93-90191BE9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OBSERVAÇÃO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91F54-1B37-4F8A-8C6E-4B8402BB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[Descreva o brilho, a estabilidade da leitura e qualquer mudança feita durante o teste.]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FF1CE-0441-4A7B-B2A1-62A51331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344414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4926C-C658-4C46-9B60-704B2967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9855E-6767-4DF0-9C2F-82149265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E7D45-BDB4-4285-BADD-A853C3B4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102B-18EC-4051-8572-23DC0CFA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09005-723F-467D-8A26-6C3A198D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RESULTADO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AEB04-3E90-4B5A-919F-F0E0EB2E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[Explique se a pilha produziu tensão suficiente e se o LED funcionou.]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A4C22-5154-4DA7-B18C-AB048F4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614E-4F0E-4DF5-BBD6-63BFC9AD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DIFICULDADES ENCONTRADAS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2F640-22F2-4F6E-AEE4-998B0AF0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[Exemplo: mau contato nas garras, eletrodos sujos, LED invertido ou tensão baixa.]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FF1EF-06CF-4AB6-9832-0E8CF95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POSSÍVEIS MELHORIAS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44E46-0C97-4567-91DD-A8A3CED6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[Exemplo: usar mais células, aumentar a área dos eletrodos ou refazer conexões.]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858F9-89F9-4098-A5CF-36F1FB4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7BA2A-B09E-41F9-B9CE-7B50E513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Conclusão química: a oxidação do zinco liberou elétrons, enquanto a batata permitiu o transporte de íons.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4DC78-1A56-44C9-BC11-8F20809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973230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6710E-F87C-4A47-93AD-8F55D02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F915E-6C49-4EEC-B1C4-81C709AC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Referências e vídeo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9D9C2-E8BD-4CE6-9185-ED747C4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75AB-1585-4AEF-9953-33C7CF1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155ED-A7E4-4A93-9EA5-1AD0FDA5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Referências e vídeo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78B28-C12B-4E81-8792-4ACFFFCE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DOCUMENTO DO TRABALHO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46E46-6589-451B-8214-27AB74A7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Orientações do Trabalho Trimestral de Química — 3º 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7C654-88B3-46B4-A903-4C284AF1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FONTES CONSULTADAS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A6DAE-C95C-43CE-9467-C3DAA69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University of Northern Colorado — Potato Battery</a:t>
            </a:r>
          </a:p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University of Illinois Physics Van — Potato Battery</a:t>
            </a:r>
          </a:p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MIT PLIX — Alternatives to coin-cell batteries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51F86-60E9-468B-AF14-F157CEE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VÍDEO RECOMENDADO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65400-07EA-48C1-B6F5-4CDA6EEF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Pilha de Batata (ou Batateria) — Leonardo Fernandez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73A55-E951-4DA2-A925-77B5BA6F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https://www.youtube.com/watch?v=sgajFGJ7g5Q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8DBAB-0A39-45B8-ABE1-38FC059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6A409-6E76-48FD-BE54-DAD6176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Antes de apresentar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CDF7B-5509-42EE-B623-02EFD74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705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Substituam todos os campos [INSERIR].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Confirmem a polaridade do 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Levem a montagem pronta, o multímetro e peças de reserva.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Distribuam a fala entre os integrantes.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315E7-B674-44E7-8475-C88AD2BE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Acesso às referências completas nas notas deste slide</a:t>
            </a:r>
          </a:p>
        </p:txBody>
      </p:sp>
    </p:spTree>
    <p:extLst>
      <p:ext uri="{BB962C8B-B14F-4D97-AF65-F5344CB8AC3E}">
        <p14:creationId xmlns:p14="http://schemas.microsoft.com/office/powerpoint/2010/main" val="550640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2026-10-13T12:58:29.1810000Z</dcterms:created>
  <dcterms:modified xsi:type="dcterms:W3CDTF">2026-10-13T12:58:29.1810000Z</dcterms:modified>
</coreProperties>
</file>