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8d387711f8407a" /><Relationship Type="http://schemas.openxmlformats.org/officeDocument/2006/relationships/extended-properties" Target="/docProps/app.xml" Id="R23bb3467433e49ad" /><Relationship Type="http://schemas.openxmlformats.org/officeDocument/2006/relationships/officeDocument" Target="/ppt/presentation.xml" Id="R9a4b3045a6c042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484a60b3494a16"/>
  </p:sldMasterIdLst>
  <p:notesMasterIdLst>
    <p:notesMasterId xmlns:r="http://schemas.openxmlformats.org/officeDocument/2006/relationships" r:id="Rda11f1ed9ea74992"/>
  </p:notesMasterIdLst>
  <p:sldIdLst>
    <p:sldId xmlns:r="http://schemas.openxmlformats.org/officeDocument/2006/relationships" id="256" r:id="R2fea4ae7555f4b2d"/>
    <p:sldId xmlns:r="http://schemas.openxmlformats.org/officeDocument/2006/relationships" id="257" r:id="Rd3c988963e204f01"/>
    <p:sldId xmlns:r="http://schemas.openxmlformats.org/officeDocument/2006/relationships" id="258" r:id="R1ced2a5443cf4101"/>
    <p:sldId xmlns:r="http://schemas.openxmlformats.org/officeDocument/2006/relationships" id="259" r:id="Re8745922fe46492c"/>
    <p:sldId xmlns:r="http://schemas.openxmlformats.org/officeDocument/2006/relationships" id="260" r:id="Rfed9d072aa944a93"/>
    <p:sldId xmlns:r="http://schemas.openxmlformats.org/officeDocument/2006/relationships" id="261" r:id="Re7042d99cd334922"/>
    <p:sldId xmlns:r="http://schemas.openxmlformats.org/officeDocument/2006/relationships" id="262" r:id="Re23042c5d54240ac"/>
    <p:sldId xmlns:r="http://schemas.openxmlformats.org/officeDocument/2006/relationships" id="263" r:id="R5671b724d440404f"/>
    <p:sldId xmlns:r="http://schemas.openxmlformats.org/officeDocument/2006/relationships" id="264" r:id="R8d38ed743e934d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3d788bcb444cac" /><Relationship Type="http://schemas.openxmlformats.org/officeDocument/2006/relationships/slideMaster" Target="/ppt/slideMasters/slideMaster1.xml" Id="Ra3484a60b3494a16" /><Relationship Type="http://schemas.openxmlformats.org/officeDocument/2006/relationships/notesMaster" Target="/ppt/notesMasters/notesMaster1.xml" Id="Rda11f1ed9ea74992" /><Relationship Type="http://schemas.openxmlformats.org/officeDocument/2006/relationships/presProps" Target="/ppt/presProps.xml" Id="R9c1af56febea4e47" /><Relationship Type="http://schemas.openxmlformats.org/officeDocument/2006/relationships/tableStyles" Target="/ppt/tableStyles.xml" Id="R42d6c9fcff6d4d6d" /><Relationship Type="http://schemas.openxmlformats.org/officeDocument/2006/relationships/slide" Target="/ppt/slides/slide1.xml" Id="R2fea4ae7555f4b2d" /><Relationship Type="http://schemas.openxmlformats.org/officeDocument/2006/relationships/slide" Target="/ppt/slides/slide2.xml" Id="Rd3c988963e204f01" /><Relationship Type="http://schemas.openxmlformats.org/officeDocument/2006/relationships/slide" Target="/ppt/slides/slide3.xml" Id="R1ced2a5443cf4101" /><Relationship Type="http://schemas.openxmlformats.org/officeDocument/2006/relationships/slide" Target="/ppt/slides/slide4.xml" Id="Re8745922fe46492c" /><Relationship Type="http://schemas.openxmlformats.org/officeDocument/2006/relationships/slide" Target="/ppt/slides/slide5.xml" Id="Rfed9d072aa944a93" /><Relationship Type="http://schemas.openxmlformats.org/officeDocument/2006/relationships/slide" Target="/ppt/slides/slide6.xml" Id="Re7042d99cd334922" /><Relationship Type="http://schemas.openxmlformats.org/officeDocument/2006/relationships/slide" Target="/ppt/slides/slide7.xml" Id="Re23042c5d54240ac" /><Relationship Type="http://schemas.openxmlformats.org/officeDocument/2006/relationships/slide" Target="/ppt/slides/slide8.xml" Id="R5671b724d440404f" /><Relationship Type="http://schemas.openxmlformats.org/officeDocument/2006/relationships/slide" Target="/ppt/slides/slide9.xml" Id="R8d38ed743e934d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991084931342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fd76baea7a4191" /><Relationship Type="http://schemas.openxmlformats.org/officeDocument/2006/relationships/notesMaster" Target="/ppt/notesMasters/notesMaster1.xml" Id="Rec80f63647104f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7659484f7a4998" /><Relationship Type="http://schemas.openxmlformats.org/officeDocument/2006/relationships/notesMaster" Target="/ppt/notesMasters/notesMaster1.xml" Id="R1cba45c1923040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25848821dc4e5e" /><Relationship Type="http://schemas.openxmlformats.org/officeDocument/2006/relationships/notesMaster" Target="/ppt/notesMasters/notesMaster1.xml" Id="Rbd4abd037bad4a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c3e7b1c22846eb" /><Relationship Type="http://schemas.openxmlformats.org/officeDocument/2006/relationships/notesMaster" Target="/ppt/notesMasters/notesMaster1.xml" Id="R3f3d63e86d484d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6e7c9aab4c4016" /><Relationship Type="http://schemas.openxmlformats.org/officeDocument/2006/relationships/notesMaster" Target="/ppt/notesMasters/notesMaster1.xml" Id="R0bdb1e7a813041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5be9dd80de4140" /><Relationship Type="http://schemas.openxmlformats.org/officeDocument/2006/relationships/notesMaster" Target="/ppt/notesMasters/notesMaster1.xml" Id="Re67b213d8e3a44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f9470b37ba46e0" /><Relationship Type="http://schemas.openxmlformats.org/officeDocument/2006/relationships/notesMaster" Target="/ppt/notesMasters/notesMaster1.xml" Id="Rb27618e2c4e54c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aae22b1d4b4414" /><Relationship Type="http://schemas.openxmlformats.org/officeDocument/2006/relationships/notesMaster" Target="/ppt/notesMasters/notesMaster1.xml" Id="R71ea2c500ef64a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3a6717f8d04a27" /><Relationship Type="http://schemas.openxmlformats.org/officeDocument/2006/relationships/notesMaster" Target="/ppt/notesMasters/notesMaster1.xml" Id="R23598a7cfc6247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da ilustração: imagem criada para esta apresentação com IA generativa. A imagem é conceitual e não substitui as fotos reais do experimento.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Conteúdo baseado nas orientações fornecidas no PDF do trabalho: montagem da pilha caseira, medição com multímetro, funcionamento de um LED e explicação química.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quantidade de seis batatas foi escolhida para aumentar a chance de o LED acender. Fontes consultadas: https://heyplix.mit.edu/t/alternatives-to-coin-cell-batteries/1703 e https://www.unco.edu/nhs/science/pdf/demos/Chemistry_Demos.pdf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Fale durante a apresentação: a batata fornece o meio úmido com íons. Ela não deve ser consumida depois do experimento.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University of Northern Colorado, Potato Battery: https://www.unco.edu/nhs/science/pdf/demos/Chemistry_Demos.pdf. University of Illinois Physics Van: https://van.physics.illinois.edu/ask/listing/2396. Observação: cada célula tem zinco negativo e cobre positivo. Em série, conecta-se o polo positivo de uma célula ao negativo da seguinte.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para a explicação da célula Zn/Cu com batata: https://anaisonline.uems.br/seminarioformacaodocente/article/download/10511/9659/24891 e University of Illinois Physics Van: https://van.physics.illinois.edu/ask/listing/2400. O cobre atua principalmente como superfície condutora para a redução; não há solução preparada de íons Cu2+ como na pilha de Daniell.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Preencher este slide somente depois do teste real. Não inventar o valor do multímetro. Fotografar a leitura com os dígitos visíveis e o LED em ambiente mais escuro se o brilho estiver fraco.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conclusão deve refletir o teste real. Se o LED não acendeu, isso não elimina a produção de tensão. Explique a resistência interna elevada e use a leitura do multímetro como evidência.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Referências completas:</a:t>
            </a:r>
          </a:p>
          <a:p xmlns:a="http://schemas.openxmlformats.org/drawingml/2006/main">
            <a:r>
              <a:t>1. Documento fornecido pelo professor: C:/Users/ppfti/OneDrive/Desktop/o que fazer batata inglesa.pdf</a:t>
            </a:r>
          </a:p>
          <a:p xmlns:a="http://schemas.openxmlformats.org/drawingml/2006/main">
            <a:r>
              <a:t>2. University of Northern Colorado. Potato Battery. https://www.unco.edu/nhs/science/pdf/demos/Chemistry_Demos.pdf</a:t>
            </a:r>
          </a:p>
          <a:p xmlns:a="http://schemas.openxmlformats.org/drawingml/2006/main">
            <a:r>
              <a:t>3. University of Illinois Physics Van. How Many Potatoes in a Potato Battery? https://van.physics.illinois.edu/ask/listing/2396</a:t>
            </a:r>
          </a:p>
          <a:p xmlns:a="http://schemas.openxmlformats.org/drawingml/2006/main">
            <a:r>
              <a:t>4. University of Illinois Physics Van. Potato Battery. https://van.physics.illinois.edu/ask/listing/2400</a:t>
            </a:r>
          </a:p>
          <a:p xmlns:a="http://schemas.openxmlformats.org/drawingml/2006/main">
            <a:r>
              <a:t>5. MIT PLIX. Alternatives to coin-cell batteries. https://heyplix.mit.edu/t/alternatives-to-coin-cell-batteries/1703</a:t>
            </a:r>
          </a:p>
          <a:p xmlns:a="http://schemas.openxmlformats.org/drawingml/2006/main">
            <a:r>
              <a:t>6. Vídeo: Pilha de Batata (ou Batateria). https://www.youtube.com/watch?v=sgajFGJ7g5Q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ae078aa984d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1acf33d0a949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dbf0c5bfb4f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460f3b03964b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5f32ef60648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1d518f25cd48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7406EA-E943-430D-8863-5E5C2E4C1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BB7C99-8F6F-4560-BC83-5C0C9D3D4F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971B7A-FC9A-419C-A17D-92292CF156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016376-56DE-4099-9C3E-A147C275A1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8E185A-A342-4D14-8FDB-BD6583FA75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E07711-935C-4EA5-BAC4-2EF42054DF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DE9C6E-D64D-4B1D-9DF0-A29FB9B2AA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3C2D864-AF30-4537-A82A-6341C533CD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01FEDB-CE0E-44BB-AEC0-872980AE50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516002-8BF8-4041-B476-7B3FC1D805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bd92d2ed5a4069" /><Relationship Type="http://schemas.openxmlformats.org/officeDocument/2006/relationships/slideLayout" Target="/ppt/slideLayouts/slideLayout1.xml" Id="Recc2fa51b824463e" /><Relationship Type="http://schemas.openxmlformats.org/officeDocument/2006/relationships/slideLayout" Target="/ppt/slideLayouts/slideLayout2.xml" Id="Ra137a981eee741cd" /><Relationship Type="http://schemas.openxmlformats.org/officeDocument/2006/relationships/slideLayout" Target="/ppt/slideLayouts/slideLayout3.xml" Id="Rf75b21952e2b400e" /><Relationship Type="http://schemas.openxmlformats.org/officeDocument/2006/relationships/slideLayout" Target="/ppt/slideLayouts/slideLayout4.xml" Id="R917d127cf2554aea" /><Relationship Type="http://schemas.openxmlformats.org/officeDocument/2006/relationships/slideLayout" Target="/ppt/slideLayouts/slideLayout5.xml" Id="Rb2ef2965e67d45c8" /><Relationship Type="http://schemas.openxmlformats.org/officeDocument/2006/relationships/slideLayout" Target="/ppt/slideLayouts/slideLayout6.xml" Id="R316442c38f2e47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c2fa51b824463e"/>
    <p:sldLayoutId xmlns:r="http://schemas.openxmlformats.org/officeDocument/2006/relationships" id="2147483650" r:id="Ra137a981eee741cd"/>
    <p:sldLayoutId xmlns:r="http://schemas.openxmlformats.org/officeDocument/2006/relationships" id="2147483651" r:id="Rf75b21952e2b400e"/>
    <p:sldLayoutId xmlns:r="http://schemas.openxmlformats.org/officeDocument/2006/relationships" id="2147483652" r:id="R917d127cf2554aea"/>
    <p:sldLayoutId xmlns:r="http://schemas.openxmlformats.org/officeDocument/2006/relationships" id="2147483653" r:id="Rb2ef2965e67d45c8"/>
    <p:sldLayoutId xmlns:r="http://schemas.openxmlformats.org/officeDocument/2006/relationships" id="2147483654" r:id="R316442c38f2e47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8e2d8608a54bdd" /><Relationship Type="http://schemas.openxmlformats.org/officeDocument/2006/relationships/image" Target="/ppt/media/image.png" Id="R08b9ab44a5d246c0" /><Relationship Type="http://schemas.openxmlformats.org/officeDocument/2006/relationships/notesSlide" Target="/ppt/notesSlides/notesSlide1.xml" Id="Ra435ee8fe72f4c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16e78fb7cf41e1" /><Relationship Type="http://schemas.openxmlformats.org/officeDocument/2006/relationships/notesSlide" Target="/ppt/notesSlides/notesSlide2.xml" Id="R2755120a6d874b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04b013f30b4799" /><Relationship Type="http://schemas.openxmlformats.org/officeDocument/2006/relationships/notesSlide" Target="/ppt/notesSlides/notesSlide3.xml" Id="R2a9443656cc74d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fc67cc2c434f52" /><Relationship Type="http://schemas.openxmlformats.org/officeDocument/2006/relationships/notesSlide" Target="/ppt/notesSlides/notesSlide4.xml" Id="R5e6e2642126c4d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40978ac0604847" /><Relationship Type="http://schemas.openxmlformats.org/officeDocument/2006/relationships/notesSlide" Target="/ppt/notesSlides/notesSlide5.xml" Id="Rb6b551d4ee8a45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3962a155214bb0" /><Relationship Type="http://schemas.openxmlformats.org/officeDocument/2006/relationships/notesSlide" Target="/ppt/notesSlides/notesSlide6.xml" Id="Rae1ea9329d454a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dfd49768924382" /><Relationship Type="http://schemas.openxmlformats.org/officeDocument/2006/relationships/notesSlide" Target="/ppt/notesSlides/notesSlide7.xml" Id="R87bb3bc8bf684f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14c0fd0f144e25" /><Relationship Type="http://schemas.openxmlformats.org/officeDocument/2006/relationships/notesSlide" Target="/ppt/notesSlides/notesSlide8.xml" Id="R398fb6226ddc41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114fd3791c4149" /><Relationship Type="http://schemas.openxmlformats.org/officeDocument/2006/relationships/notesSlide" Target="/ppt/notesSlides/notesSlide9.xml" Id="R9b98a6c9469b46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61DAC-7FBE-4FB6-B51E-3C1724B34A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9ab44a5d246c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6EBD3-217C-4653-9D51-4B69C37F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7D3A4-30D2-42B9-8CCA-84BCE852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D3CE"/>
                </a:solidFill>
                <a:latin typeface="Arial"/>
                <a:ea typeface="Arial"/>
                <a:cs typeface="Arial"/>
              </a:rPr>
              <a:t>PILHA CASEIRA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0132D-1FD3-4C49-A29F-053B1AF4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3905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Pilha de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batata inglesa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7045B-973F-4372-874C-56B50E93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Transformação de energia química em energia elétrica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9B5C0-A9A4-4B9A-9055-4D87C33A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NOMES: [INSERIR INTEGRANTES]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15B99-3834-4C77-92F7-9E5B3D2B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TURMA: [INSERIR]     DATA: [INSERIR]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CEA83-AD7C-4FF3-A8DB-6CB8481F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86B7C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86B7C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6B7C0"/>
                </a:solidFill>
                <a:latin typeface="Arial"/>
                <a:ea typeface="Arial"/>
                <a:cs typeface="Arial"/>
              </a:rPr>
              <a:t>3º ano • Química</a:t>
            </a:r>
          </a:p>
        </p:txBody>
      </p:sp>
    </p:spTree>
    <p:extLst>
      <p:ext uri="{BB962C8B-B14F-4D97-AF65-F5344CB8AC3E}">
        <p14:creationId xmlns:p14="http://schemas.microsoft.com/office/powerpoint/2010/main" val="18442024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F48F1-2EB7-416E-805B-7BFF7752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2519A-B396-4482-ADAA-11C3D0B0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Objetivo do experimento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614FD-247A-4441-8F97-80BC4C3B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69ED0-0EA5-41A6-9ED9-288C0123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5EFCE-5205-4B18-BC0B-5ED89CE0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OBJETIVO PRINCIPAL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EAA45-4142-4C1B-ACF2-5EFD532E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6381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Construir uma pilha caseira com batatas, cobre e zinco capaz de produzir diferença de potencial e acender um LED de baixa voltagem.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12702-51A8-4B85-9F5E-23230F68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466850"/>
            <a:ext cx="37528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ADD8B-1F12-4C12-9283-AB5242F5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71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Hipótese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3F3FF-290F-495B-B2DE-3951B9DC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28850"/>
            <a:ext cx="2990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434"/>
                </a:solidFill>
                <a:latin typeface="Arial"/>
                <a:ea typeface="Arial"/>
                <a:cs typeface="Arial"/>
              </a:rPr>
              <a:t>Ao conectar várias células de batata em série, as tensões se somam e podem superar a tensão mínima necessária para o LED.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2B0F0-A2C8-40C2-A623-FF637202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O QUE SERÁ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A25F9-22A4-4502-B39B-A9D03A46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434"/>
                </a:solidFill>
                <a:latin typeface="Arial"/>
                <a:ea typeface="Arial"/>
                <a:cs typeface="Arial"/>
              </a:rPr>
              <a:t>Diferença de potencial medida com multímetro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3260E-CA60-437B-B342-61F7DB2C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434"/>
                </a:solidFill>
                <a:latin typeface="Arial"/>
                <a:ea typeface="Arial"/>
                <a:cs typeface="Arial"/>
              </a:rPr>
              <a:t>Polaridade correta e brilho do 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19649-EACD-4645-A282-B9859294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434"/>
                </a:solidFill>
                <a:latin typeface="Arial"/>
                <a:ea typeface="Arial"/>
                <a:cs typeface="Arial"/>
              </a:rPr>
              <a:t>Relação entre as reações químicas e o fluxo de elétrons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4115C-B0AD-4FE9-BE89-84DC2CF8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37528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5FAFA"/>
          </a:solidFill>
          <a:ln xmlns:a="http://schemas.openxmlformats.org/drawingml/2006/main" w="19050">
            <a:solidFill>
              <a:srgbClr val="76A9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F12B4B-7AAE-44D1-9BCF-A6656878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76750"/>
            <a:ext cx="3295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INSERIR FOTO DO GRUPO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B95CA-F86B-4A79-8257-928555D6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76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Substitua por uma foto do grupo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8F6A07-DF00-4A57-8F22-1700F68D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Trabalho trimestral de Química</a:t>
            </a:r>
          </a:p>
        </p:txBody>
      </p:sp>
    </p:spTree>
    <p:extLst>
      <p:ext uri="{BB962C8B-B14F-4D97-AF65-F5344CB8AC3E}">
        <p14:creationId xmlns:p14="http://schemas.microsoft.com/office/powerpoint/2010/main" val="13305502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66A93E-FA16-44D5-9FF5-2AB6E254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3E488-B3EE-4587-91A8-73C38C51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Materiais utilizados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8AFE0-CEEC-4137-BC16-019E94AC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24CD9-F0A8-4318-B6F7-024FF42D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46AE0-9F20-426E-8460-62EAA789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PARA A MONTAGEM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0AEE1-3895-49DE-B9E4-1E695837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95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EDFE1-82BA-4FFB-BB25-F982697B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A80B5-BC6A-4B38-8AD1-486FEA3A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669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6 batatas inglesas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BDA9B-5FD1-4D59-8D73-1ED87039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621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Cada batata funciona como uma célula eletroquímica.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0C6D2-51F0-487C-A6F3-6B6DB038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580EF-84C1-458C-9639-6FF69CE8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19D878-AB01-4860-88F2-F6810BEC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718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6 pregos galvanizados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E9711-2B79-4D2C-A21C-A6D12526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670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O revestimento de zinco forma o polo negativo.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733C6-91D0-4547-BF3F-6E0CED6F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24285-72E9-4887-B606-A05A10B5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768DBD-179C-4D0C-B8E6-735F7F90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6 placas ou fios grossos de cobre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ED288-66CC-4BB3-9556-DD14A31F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719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O cobre funciona como polo positivo.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777F83-2F76-48C6-8F17-CD36A44E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95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D2E3F2-FCA4-4C20-A2DD-4DBC18AB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240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85DC76-A7BA-4660-BA5D-624B6BCA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669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7 fios com garras jacaré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2CCA3-850A-413D-966A-F2E29718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621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Cinco ligações entre batatas e duas para o LED.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856534-35DF-4007-A44F-B9A14F6C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00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A050B5-759A-4787-A8BB-9F0B70BA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289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DDC1BF-D363-48C2-85CA-3C87C3A9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718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LED vermelho de 5 mm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7C7F74-9A94-4209-960F-81F6AF81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670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Modelo de baixo consumo e menor tensão de acionamento.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991C6B-6E6F-4B06-8173-94FFE6A0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05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37BC97-C508-40B1-BC6C-1E8F48D9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338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AADE31-15E9-4970-B0DB-CFB450B5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767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Multímetro e lixa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E4EAC8-8836-4AA5-974B-00BE1196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719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Para medir a tensão e limpar os eletrodos.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35CB39-FD7B-464E-8750-72FFB395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57750"/>
            <a:ext cx="27432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AFA"/>
          </a:solidFill>
          <a:ln xmlns:a="http://schemas.openxmlformats.org/drawingml/2006/main" w="19050">
            <a:solidFill>
              <a:srgbClr val="76A9A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6AFD5F-B8A9-4049-ADE0-26DFF625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006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INSERIR FOTO DOS MATERIAIS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052ED9-E6C4-4BA9-95D6-0314E222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6007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Foto antes da montagem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500123-614E-4CFB-A0DC-C044F224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744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DE4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E4A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E4A4A"/>
                </a:solidFill>
                <a:latin typeface="Arial"/>
                <a:ea typeface="Arial"/>
                <a:cs typeface="Arial"/>
              </a:rPr>
              <a:t>Atenção: cobre e zinco precisam ser metais diferentes e não podem se tocar dentro da batata.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043CA3-DFEB-45DA-8EC2-174E0F99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Trabalho trimestral de Química</a:t>
            </a:r>
          </a:p>
        </p:txBody>
      </p:sp>
    </p:spTree>
    <p:extLst>
      <p:ext uri="{BB962C8B-B14F-4D97-AF65-F5344CB8AC3E}">
        <p14:creationId xmlns:p14="http://schemas.microsoft.com/office/powerpoint/2010/main" val="1668835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B5131B-D9F1-4FB8-9419-50B078A3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71B69-3C88-4FFA-963A-62B78CA7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Montagem das células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77945-4539-42FE-A168-197AA265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1D5C8-FAD9-4968-B5FB-C704DC06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360F5-396B-4CB5-8C84-5550AD2D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35A8B-1CB6-4B4B-ABFE-7E6671BF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CD6F6-5B29-466F-AA5D-CC721B92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668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Preparação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511EF-C010-48AA-89C2-1F41F284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6212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Numeramos as batatas e lixamos as superfícies do cobre e do zinco.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3271D-C452-4778-B6E2-9005FCCA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5FA2B-303A-4DB0-8832-48CBDF25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1D4AF-2A29-4257-ACA7-20A08581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2887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Inserção dos eletrodos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604BA-1BA5-47DF-9180-EB4E6C7F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Colocamos um eletrodo de cobre e um prego galvanizado em cada batata.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BF731-49B3-40AC-89CE-956F704E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F3FFA-C806-4129-933A-E3A75C38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25702-CCA7-4E93-A209-8A8CBE95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909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Separação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8093D7-2DE9-4F5B-8566-730BB621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861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Mantivemos cerca de 2 a 3 cm entre os metais, sem contato interno.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39269-5DD4-4544-9FD8-C91B6884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80EA9C-EBFB-4E35-B914-759134BD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99B31-34F8-4C4A-8E00-D9BE49E8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529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Organização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DD3626-EC79-4FEB-B503-4C0DA899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482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Alinhamos as seis batatas para facilitar as ligações em série.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21B68-69A4-457A-B184-ECAD80B9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66850"/>
            <a:ext cx="47625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5FAFA"/>
          </a:solidFill>
          <a:ln xmlns:a="http://schemas.openxmlformats.org/drawingml/2006/main" w="19050">
            <a:solidFill>
              <a:srgbClr val="76A9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594216-64AC-4CD8-A2C2-50E96873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57413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FOTO 1: PREPARAÇÃO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37D2E-B9CB-4BD3-A768-3F10391A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57463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Substitua por uma foto do grupo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2785FE-5394-4644-8510-7AACAA32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05225"/>
            <a:ext cx="47625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5FAFA"/>
          </a:solidFill>
          <a:ln xmlns:a="http://schemas.openxmlformats.org/drawingml/2006/main" w="19050">
            <a:solidFill>
              <a:srgbClr val="76A9A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E3850D-E466-488B-A7B4-3ACBACA1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95788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FOTO 2: ELETRODOS NAS BATATAS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F6ABE1-486D-4FA4-8B0B-845FD8AE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95838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Substitua por uma foto do grupo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9BF2AB-0B49-46E2-ADD1-D2C1F95C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388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[Adicione pequenas legendas com o que está acontecendo em cada foto]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2A0F27-454E-4018-9FA7-214499DD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Trabalho trimestral de Química</a:t>
            </a:r>
          </a:p>
        </p:txBody>
      </p:sp>
    </p:spTree>
    <p:extLst>
      <p:ext uri="{BB962C8B-B14F-4D97-AF65-F5344CB8AC3E}">
        <p14:creationId xmlns:p14="http://schemas.microsoft.com/office/powerpoint/2010/main" val="9072049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04BCB0-28F7-44E8-86E2-CE713F45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08A0B-628C-4348-B556-A1E0BABB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Ligação em série e polaridade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C0745-E56A-4A89-901F-978BE7B7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A3373-A455-45FA-A00B-20C6510E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6E6E3-9E4D-4358-AEE0-B2C05546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3243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434"/>
                </a:solidFill>
                <a:latin typeface="Arial"/>
                <a:ea typeface="Arial"/>
                <a:cs typeface="Arial"/>
              </a:rPr>
              <a:t>Ligamos o cobre de uma batata ao zinco da batata seguinte. Assim, as tensões das células se somam.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00A5B-BC73-4BAC-AF1D-1E2C67B1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857250" cy="12573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5A66E"/>
          </a:solidFill>
          <a:ln xmlns:a="http://schemas.openxmlformats.org/drawingml/2006/main" w="19050">
            <a:solidFill>
              <a:srgbClr val="B985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245D3-881C-4271-BBDA-D62DC554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6E"/>
          </a:solidFill>
          <a:ln xmlns:a="http://schemas.openxmlformats.org/drawingml/2006/main" w="9525">
            <a:solidFill>
              <a:srgbClr val="D5A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1F224-B1E1-41D6-A456-D2100647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Batata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F66CF-ADFC-4F8A-BD32-9F168188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683A"/>
                </a:solidFill>
                <a:latin typeface="Arial"/>
                <a:ea typeface="Arial"/>
                <a:cs typeface="Arial"/>
              </a:rPr>
              <a:t>Cu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DC8B0-5036-4ACC-823F-53D308A8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3812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47D"/>
                </a:solidFill>
                <a:latin typeface="Arial"/>
                <a:ea typeface="Arial"/>
                <a:cs typeface="Arial"/>
              </a:rPr>
              <a:t>Zn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18863-69E2-40F4-B404-2F536537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717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49A78-989A-4B1C-8CB9-C4872C89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57500"/>
            <a:ext cx="857250" cy="12573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5A66E"/>
          </a:solidFill>
          <a:ln xmlns:a="http://schemas.openxmlformats.org/drawingml/2006/main" w="19050">
            <a:solidFill>
              <a:srgbClr val="B985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7D399-B3E9-4EBF-825B-F69910A7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6E"/>
          </a:solidFill>
          <a:ln xmlns:a="http://schemas.openxmlformats.org/drawingml/2006/main" w="9525">
            <a:solidFill>
              <a:srgbClr val="D5A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0E7CA-AD3B-4053-8A66-4553EC3B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71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Batata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625BE-44BC-4546-BDF8-2EEF4D79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683A"/>
                </a:solidFill>
                <a:latin typeface="Arial"/>
                <a:ea typeface="Arial"/>
                <a:cs typeface="Arial"/>
              </a:rPr>
              <a:t>Cu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1FB9A-7CA5-4F32-BC5B-AB933B2A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3812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47D"/>
                </a:solidFill>
                <a:latin typeface="Arial"/>
                <a:ea typeface="Arial"/>
                <a:cs typeface="Arial"/>
              </a:rPr>
              <a:t>Zn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F5AD6-3FB2-427E-9DB1-0D5391C3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690BD9-D65B-46BE-8492-A4A5A160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57500"/>
            <a:ext cx="857250" cy="12573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5A66E"/>
          </a:solidFill>
          <a:ln xmlns:a="http://schemas.openxmlformats.org/drawingml/2006/main" w="19050">
            <a:solidFill>
              <a:srgbClr val="B985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6C241-7EA3-4399-887C-45D6A2C3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6E"/>
          </a:solidFill>
          <a:ln xmlns:a="http://schemas.openxmlformats.org/drawingml/2006/main" w="9525">
            <a:solidFill>
              <a:srgbClr val="D5A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B02001-F250-49C1-80BF-577B9920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71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Batata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D00D7A-230B-487B-AC11-0FDCED49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812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683A"/>
                </a:solidFill>
                <a:latin typeface="Arial"/>
                <a:ea typeface="Arial"/>
                <a:cs typeface="Arial"/>
              </a:rPr>
              <a:t>Cu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4623CF-ADC3-4F91-A334-D985FAF9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3812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47D"/>
                </a:solidFill>
                <a:latin typeface="Arial"/>
                <a:ea typeface="Arial"/>
                <a:cs typeface="Arial"/>
              </a:rPr>
              <a:t>Zn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8FFAA-CF4C-4222-806A-6CE15ED5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FA61BA-7A8D-4EF4-AD73-AF1E7F8D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857250" cy="12573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5A66E"/>
          </a:solidFill>
          <a:ln xmlns:a="http://schemas.openxmlformats.org/drawingml/2006/main" w="19050">
            <a:solidFill>
              <a:srgbClr val="B985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8EF19B-DAB0-4DD1-93E9-CC4B15BD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6E"/>
          </a:solidFill>
          <a:ln xmlns:a="http://schemas.openxmlformats.org/drawingml/2006/main" w="9525">
            <a:solidFill>
              <a:srgbClr val="D5A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4C9F36-70FE-4D97-8E78-84D8A32C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71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Batata 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F93F16-8F55-4275-BEB1-8B6C2B8C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683A"/>
                </a:solidFill>
                <a:latin typeface="Arial"/>
                <a:ea typeface="Arial"/>
                <a:cs typeface="Arial"/>
              </a:rPr>
              <a:t>Cu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E17465-5FF5-4ED2-A8CC-4C1F10BA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3812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47D"/>
                </a:solidFill>
                <a:latin typeface="Arial"/>
                <a:ea typeface="Arial"/>
                <a:cs typeface="Arial"/>
              </a:rPr>
              <a:t>Zn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25774C-73C2-401C-B625-B0C23ECE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A96A5D-643B-454E-9CE2-BCED7172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57500"/>
            <a:ext cx="857250" cy="12573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5A66E"/>
          </a:solidFill>
          <a:ln xmlns:a="http://schemas.openxmlformats.org/drawingml/2006/main" w="19050">
            <a:solidFill>
              <a:srgbClr val="B9855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F44D49-7A43-4BA1-9A45-86B38FEB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6E"/>
          </a:solidFill>
          <a:ln xmlns:a="http://schemas.openxmlformats.org/drawingml/2006/main" w="9525">
            <a:solidFill>
              <a:srgbClr val="D5A6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5BB96A-6FFB-4C8A-8368-43E374FD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Batata 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0264E4-A296-492A-A5CB-FDB08C53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683A"/>
                </a:solidFill>
                <a:latin typeface="Arial"/>
                <a:ea typeface="Arial"/>
                <a:cs typeface="Arial"/>
              </a:rPr>
              <a:t>Cu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2CF956-137E-445A-8C9C-C3C076F7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3812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47D"/>
                </a:solidFill>
                <a:latin typeface="Arial"/>
                <a:ea typeface="Arial"/>
                <a:cs typeface="Arial"/>
              </a:rPr>
              <a:t>Zn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807838-C8E1-42F3-AD60-BCC3A71D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D2C9D3-76AF-4ECD-B8F4-52BAC1E2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57500"/>
            <a:ext cx="857250" cy="12573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5A66E"/>
          </a:solidFill>
          <a:ln xmlns:a="http://schemas.openxmlformats.org/drawingml/2006/main" w="19050">
            <a:solidFill>
              <a:srgbClr val="B985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D25F38-8C6C-466C-911B-DB5AB1DD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95550"/>
            <a:ext cx="161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6E"/>
          </a:solidFill>
          <a:ln xmlns:a="http://schemas.openxmlformats.org/drawingml/2006/main" w="9525">
            <a:solidFill>
              <a:srgbClr val="D5A66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DD223D-34F3-4802-8A9D-62FD41A2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71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Batata 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5256CA-6C3D-4573-B3D6-324D5F6A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812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B968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683A"/>
                </a:solidFill>
                <a:latin typeface="Arial"/>
                <a:ea typeface="Arial"/>
                <a:cs typeface="Arial"/>
              </a:rPr>
              <a:t>Cu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056BD7-E39E-4DA8-9203-8363BCFB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3812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6674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47D"/>
                </a:solidFill>
                <a:latin typeface="Arial"/>
                <a:ea typeface="Arial"/>
                <a:cs typeface="Arial"/>
              </a:rPr>
              <a:t>Zn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BC4461-4CE3-4939-B54F-EAC8CA7D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0300"/>
            <a:ext cx="457200" cy="7048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E4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0E7785-AA96-4994-A60C-D9C88C2F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431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886670-6C3D-4A81-A695-042648F4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00300"/>
            <a:ext cx="457200" cy="7048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DE4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50B29E-9367-4030-AD72-C53CB102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431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DE4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DE4A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E4A4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8E71C2-54FE-4BE6-98ED-7A9C5678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B561EB-46B6-48A1-BA2F-645D52A4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Polo negativo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6603A1-FB95-41D3-A225-82165E1A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Zinco livre da primeira batata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1F6D8A-9CBB-48EE-8DFB-8FFE9C47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00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DE4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DE4A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E4A4A"/>
                </a:solidFill>
                <a:latin typeface="Arial"/>
                <a:ea typeface="Arial"/>
                <a:cs typeface="Arial"/>
              </a:rPr>
              <a:t>Polo positivo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F95F68-5E82-42BF-B8E0-E40E7820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435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Cobre livre da última batata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681A3B-5C19-4F72-9538-3A0CA916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7912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LED: perna curta no negativo • perna longa no positivo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882444-3E9A-4AE3-ACFF-9E9FC354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Trabalho trimestral de Química</a:t>
            </a:r>
          </a:p>
        </p:txBody>
      </p:sp>
    </p:spTree>
    <p:extLst>
      <p:ext uri="{BB962C8B-B14F-4D97-AF65-F5344CB8AC3E}">
        <p14:creationId xmlns:p14="http://schemas.microsoft.com/office/powerpoint/2010/main" val="4976718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8BFD5-928E-4212-8D8F-B59F5652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0D96D-08FC-4BCC-9805-609AB7B0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Explicação química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BF509-F691-4C83-A206-020006C7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1EF40-83BB-4AA4-AA15-AE7294F7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D2C07-A193-4287-BD14-2B615355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17DFF-2F05-468A-BBDE-826A7EC1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4572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19050">
            <a:solidFill>
              <a:srgbClr val="30516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DA361-6DB4-42FD-A1D3-AFB6CE89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66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Ânodo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1DB93-FFD6-49F3-BD43-0CF67201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Zinco • polo negativo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11BC1-188A-4D07-87AC-F34DA93E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O zinco perde elétrons e sofre oxidação.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30AF2-103E-46CC-A44B-F2612321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Zn(s)  →  Zn²⁺(aq) + 2 e⁻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C7603-FFDD-47FA-A06D-A2696C36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524000"/>
            <a:ext cx="4572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19050">
            <a:solidFill>
              <a:srgbClr val="3051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9DDB2-6351-4115-ACC5-9BC0A8D6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66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D3CE"/>
                </a:solidFill>
                <a:latin typeface="Arial"/>
                <a:ea typeface="Arial"/>
                <a:cs typeface="Arial"/>
              </a:rPr>
              <a:t>Cátodo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6B3DA-B13A-4B74-A7ED-BEBDF1B8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050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Cobre • polo positivo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D2737-2B8A-49D7-8537-23F9C535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Na superfície do cobre ocorre a redução de íons do meio.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7F81C-13EB-409D-8333-BE1AEC13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385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D3CE"/>
                </a:solidFill>
                <a:latin typeface="Arial"/>
                <a:ea typeface="Arial"/>
                <a:cs typeface="Arial"/>
              </a:rPr>
              <a:t>2 H⁺(aq) + 2 e⁻  →  H₂(g)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1D5E8-4EC6-42B8-B5F0-26E2BA80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86050"/>
            <a:ext cx="2190750" cy="628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42392-7575-4487-B2DA-7BAE4332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09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elétrons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CD832-251B-4D25-80D6-C958D137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911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batata funciona como eletrólito: seu meio úmido permite o movimento de íons e fecha o circuito interno.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57F2F1-2BA5-4C28-8097-6E345C1A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Os elétrons percorrem o circuito externo do zinco para o cobre</a:t>
            </a:r>
          </a:p>
        </p:txBody>
      </p:sp>
    </p:spTree>
    <p:extLst>
      <p:ext uri="{BB962C8B-B14F-4D97-AF65-F5344CB8AC3E}">
        <p14:creationId xmlns:p14="http://schemas.microsoft.com/office/powerpoint/2010/main" val="899815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A6F27-9E69-42C6-8C48-E31AB5EE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251C4-537E-4C64-8BD9-52565612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Resultados do teste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A4C79-3C76-4D04-ABDD-475FB33E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220AE-0BD1-465A-AD81-3546DBEF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CDD13-CDE9-43FD-808B-2783BEFE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5FAFA"/>
          </a:solidFill>
          <a:ln xmlns:a="http://schemas.openxmlformats.org/drawingml/2006/main" w="19050">
            <a:solidFill>
              <a:srgbClr val="76A9A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CB3D3-1547-4AB6-89A4-2B81307E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FOTO 3: LEITURA DO MULTÍMETRO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8F7EC-BE22-462C-AA8D-6CAD928D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Substitua por uma foto do grupo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190CB-7EA9-4A1C-A002-BFE73504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6685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5FAFA"/>
          </a:solidFill>
          <a:ln xmlns:a="http://schemas.openxmlformats.org/drawingml/2006/main" w="19050">
            <a:solidFill>
              <a:srgbClr val="76A9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796FB-4BFE-4012-8C97-0E803C49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71725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FOTO 4: LED ACESO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5D90D-F0F2-47BF-8F49-EE506378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71775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Substitua por uma foto do grupo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7CBCA-2861-4B22-964A-DBACA329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MEDIÇÕES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E0B5C-B3A4-4049-ACE8-43F88F6F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Tensão total medida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4F041-D523-46C7-AB61-67BDD71A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19600"/>
            <a:ext cx="2247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C8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B7AD1-6CF2-4FEC-8C64-0C7F1D50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72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[INSERIR] 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DB8179-B2A6-47DB-B22B-7021F6F2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720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O LED acendeu?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F4484-F095-4B87-AEF7-63C65BB1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19600"/>
            <a:ext cx="2819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C8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349559-3617-4CFE-8E27-662545EC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4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[SIM / NÃO / FRACO]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18CBC-8387-49E6-A7AA-49629934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OBSERVAÇÃO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B0DCB-2CE9-445C-8B84-7D549AB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[Descreva o brilho, a estabilidade da leitura e qualquer mudança feita durante o teste.]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13DA24-1C8A-4905-BA5F-2A49BEFE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Trabalho trimestral de Química</a:t>
            </a:r>
          </a:p>
        </p:txBody>
      </p:sp>
    </p:spTree>
    <p:extLst>
      <p:ext uri="{BB962C8B-B14F-4D97-AF65-F5344CB8AC3E}">
        <p14:creationId xmlns:p14="http://schemas.microsoft.com/office/powerpoint/2010/main" val="14437108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EB8F1-D85C-4D9F-B909-2B305858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15E65-F977-4816-8986-398FD444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Conclusão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66759-B3F3-46DD-AF15-7E1AE84E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D25D6-2552-4B7B-A3B9-8FF8E801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F0573-4063-480C-90A0-7B3EB3C7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RESULTADO PRINCIPAL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B4503-FA6D-4F7C-B573-1114B2A3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[Explique se a pilha produziu tensão suficiente e se o LED funcionou.]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1D918-404B-4A80-B9EC-2FF14966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A53BA-FD92-48F8-8F7B-464B4C0C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DIFICULDADES ENCONTRADAS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A75AD-94FC-4634-BDF1-CA0D3F8F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[Exemplo: mau contato nas garras, eletrodos sujos, LED invertido ou tensão baixa.]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DBFE8-8489-4C97-9678-A8EB55C3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POSSÍVEIS MELHORIAS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CB528-8D61-499F-BC8D-FCBFD104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[Exemplo: usar mais células, aumentar a área dos eletrodos ou refazer conexões.]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C61CC-02E2-434A-9D49-79B0FA6B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1FB2B4-C073-4B2A-B2DA-758D48B8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102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Conclusão química: a oxidação do zinco liberou elétrons, enquanto a batata permitiu o transporte de íons.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50646-AAD7-46D9-AF21-8A7FFF16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Trabalho trimestral de Química</a:t>
            </a:r>
          </a:p>
        </p:txBody>
      </p:sp>
    </p:spTree>
    <p:extLst>
      <p:ext uri="{BB962C8B-B14F-4D97-AF65-F5344CB8AC3E}">
        <p14:creationId xmlns:p14="http://schemas.microsoft.com/office/powerpoint/2010/main" val="5571780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9E4D2-DC57-4806-858B-A11FA41C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3DBB5-78E6-4D91-B9E1-5BD5496B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A22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A2235"/>
                </a:solidFill>
                <a:latin typeface="Arial"/>
                <a:ea typeface="Arial"/>
                <a:cs typeface="Arial"/>
              </a:rPr>
              <a:t>Referências e vídeo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845AF-F122-4E8F-872B-9CCEAC1C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7200"/>
            <a:ext cx="72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14EF1-B4C1-43C4-A67C-816754CF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73886-D2B9-4138-BDB9-35B53DCA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DOCUMENTO DO TRABALHO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8057E-0A7D-4BC2-B90D-465C9899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Orientações do Trabalho Trimestral de Química — 3º ano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2EAB4-FE6C-4472-9909-145A1751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FONTES CONSULTADAS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E0CAB-679E-4DA6-9B80-BF08B083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286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University of Northern Colorado — Potato Battery</a:t>
            </a:r>
          </a:p>
          <a:p xmlns:a="http://schemas.openxmlformats.org/drawingml/2006/main">
            <a: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University of Illinois Physics Van — Potato Battery</a:t>
            </a:r>
          </a:p>
          <a:p xmlns:a="http://schemas.openxmlformats.org/drawingml/2006/main">
            <a:pPr algn="l">
              <a:defRPr sz="1350" b="0">
                <a:solidFill>
                  <a:srgbClr val="DCE9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D"/>
                </a:solidFill>
                <a:latin typeface="Arial"/>
                <a:ea typeface="Arial"/>
                <a:cs typeface="Arial"/>
              </a:rPr>
              <a:t>MIT PLIX — Alternatives to coin-cell batteries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DEFAD-AEC8-4CD6-AD76-013A62C1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VÍDEO RECOMENDADO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3F6F6-695C-4D00-AF30-82338725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71D3C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1D3CE"/>
                </a:solidFill>
                <a:latin typeface="Arial"/>
                <a:ea typeface="Arial"/>
                <a:cs typeface="Arial"/>
              </a:rPr>
              <a:t>Pilha de Batata (ou Batateria) — Leonardo Fernandez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39586-3D38-45B7-A9C7-D3B5ABB4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https://www.youtube.com/watch?v=sgajFGJ7g5Q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6E2AA-32FA-47A2-BE78-3A1787DB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76400"/>
            <a:ext cx="3429000" cy="3714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19050">
            <a:solidFill>
              <a:srgbClr val="3051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A5C45-30B6-4B12-B49D-2859F273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Antes de apresentar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C3D48-FE1A-41D9-B7EA-1EC3E621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2705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Substituam todos os campos [INSERIR].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Confirmem a polaridade do 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Levem a montagem pronta, o multímetro e peças de reserva.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Distribuam a fala entre os integrantes.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CB33A-5248-4EB7-863F-CDA55C60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596C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C7B"/>
                </a:solidFill>
                <a:latin typeface="Arial"/>
                <a:ea typeface="Arial"/>
                <a:cs typeface="Arial"/>
              </a:rPr>
              <a:t>Acesso às referências completas nas notas deste slide</a:t>
            </a:r>
          </a:p>
        </p:txBody>
      </p:sp>
    </p:spTree>
    <p:extLst>
      <p:ext uri="{BB962C8B-B14F-4D97-AF65-F5344CB8AC3E}">
        <p14:creationId xmlns:p14="http://schemas.microsoft.com/office/powerpoint/2010/main" val="850175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2026-10-13T12:56:51.0700000Z</dcterms:created>
  <dcterms:modified xsi:type="dcterms:W3CDTF">2026-10-13T12:56:51.0710000Z</dcterms:modified>
</coreProperties>
</file>