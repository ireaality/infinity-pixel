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c5c4f9d93c646d3" /><Relationship Type="http://schemas.openxmlformats.org/officeDocument/2006/relationships/extended-properties" Target="/docProps/app.xml" Id="Rcefd59dc0bff4708" /><Relationship Type="http://schemas.openxmlformats.org/officeDocument/2006/relationships/officeDocument" Target="/ppt/presentation.xml" Id="Rba6d9fcdde8e460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dbc403d0f1c4aba"/>
  </p:sldMasterIdLst>
  <p:notesMasterIdLst>
    <p:notesMasterId xmlns:r="http://schemas.openxmlformats.org/officeDocument/2006/relationships" r:id="Ra0ecb4431208417e"/>
  </p:notesMasterIdLst>
  <p:sldIdLst>
    <p:sldId xmlns:r="http://schemas.openxmlformats.org/officeDocument/2006/relationships" id="256" r:id="R5b738d7566294293"/>
    <p:sldId xmlns:r="http://schemas.openxmlformats.org/officeDocument/2006/relationships" id="257" r:id="Rf028942ecc7b4fa5"/>
    <p:sldId xmlns:r="http://schemas.openxmlformats.org/officeDocument/2006/relationships" id="258" r:id="R4df0a02bf7634500"/>
    <p:sldId xmlns:r="http://schemas.openxmlformats.org/officeDocument/2006/relationships" id="259" r:id="R7e0596bc6fb14ceb"/>
    <p:sldId xmlns:r="http://schemas.openxmlformats.org/officeDocument/2006/relationships" id="260" r:id="Ra30b140acd144f59"/>
    <p:sldId xmlns:r="http://schemas.openxmlformats.org/officeDocument/2006/relationships" id="261" r:id="R534daa187ff647ec"/>
    <p:sldId xmlns:r="http://schemas.openxmlformats.org/officeDocument/2006/relationships" id="262" r:id="Re06136b463634195"/>
    <p:sldId xmlns:r="http://schemas.openxmlformats.org/officeDocument/2006/relationships" id="263" r:id="Rcd640d1b924c480d"/>
    <p:sldId xmlns:r="http://schemas.openxmlformats.org/officeDocument/2006/relationships" id="264" r:id="Rab75c2b42df045d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ee9650c6cea4972" /><Relationship Type="http://schemas.openxmlformats.org/officeDocument/2006/relationships/slideMaster" Target="/ppt/slideMasters/slideMaster1.xml" Id="Radbc403d0f1c4aba" /><Relationship Type="http://schemas.openxmlformats.org/officeDocument/2006/relationships/notesMaster" Target="/ppt/notesMasters/notesMaster1.xml" Id="Ra0ecb4431208417e" /><Relationship Type="http://schemas.openxmlformats.org/officeDocument/2006/relationships/presProps" Target="/ppt/presProps.xml" Id="Rb98444c272ef4f14" /><Relationship Type="http://schemas.openxmlformats.org/officeDocument/2006/relationships/tableStyles" Target="/ppt/tableStyles.xml" Id="R0b117828b1f44f29" /><Relationship Type="http://schemas.openxmlformats.org/officeDocument/2006/relationships/slide" Target="/ppt/slides/slide1.xml" Id="R5b738d7566294293" /><Relationship Type="http://schemas.openxmlformats.org/officeDocument/2006/relationships/slide" Target="/ppt/slides/slide2.xml" Id="Rf028942ecc7b4fa5" /><Relationship Type="http://schemas.openxmlformats.org/officeDocument/2006/relationships/slide" Target="/ppt/slides/slide3.xml" Id="R4df0a02bf7634500" /><Relationship Type="http://schemas.openxmlformats.org/officeDocument/2006/relationships/slide" Target="/ppt/slides/slide4.xml" Id="R7e0596bc6fb14ceb" /><Relationship Type="http://schemas.openxmlformats.org/officeDocument/2006/relationships/slide" Target="/ppt/slides/slide5.xml" Id="Ra30b140acd144f59" /><Relationship Type="http://schemas.openxmlformats.org/officeDocument/2006/relationships/slide" Target="/ppt/slides/slide6.xml" Id="R534daa187ff647ec" /><Relationship Type="http://schemas.openxmlformats.org/officeDocument/2006/relationships/slide" Target="/ppt/slides/slide7.xml" Id="Re06136b463634195" /><Relationship Type="http://schemas.openxmlformats.org/officeDocument/2006/relationships/slide" Target="/ppt/slides/slide8.xml" Id="Rcd640d1b924c480d" /><Relationship Type="http://schemas.openxmlformats.org/officeDocument/2006/relationships/slide" Target="/ppt/slides/slide9.xml" Id="Rab75c2b42df045d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9d11f8702944e5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2725f7b802a475f" /><Relationship Type="http://schemas.openxmlformats.org/officeDocument/2006/relationships/notesMaster" Target="/ppt/notesMasters/notesMaster1.xml" Id="Rc5103f2a13f04d7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89c5c616966469b" /><Relationship Type="http://schemas.openxmlformats.org/officeDocument/2006/relationships/notesMaster" Target="/ppt/notesMasters/notesMaster1.xml" Id="Ra1d1a6035b51463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f9289c750ae497c" /><Relationship Type="http://schemas.openxmlformats.org/officeDocument/2006/relationships/notesMaster" Target="/ppt/notesMasters/notesMaster1.xml" Id="R0b501d293542415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26c07db55744f9d" /><Relationship Type="http://schemas.openxmlformats.org/officeDocument/2006/relationships/notesMaster" Target="/ppt/notesMasters/notesMaster1.xml" Id="Rb6db6d4e39b44b2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78fd9af3f1f4c7d" /><Relationship Type="http://schemas.openxmlformats.org/officeDocument/2006/relationships/notesMaster" Target="/ppt/notesMasters/notesMaster1.xml" Id="R1bdd5a7cc08a494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f0fc9a3bcd2498d" /><Relationship Type="http://schemas.openxmlformats.org/officeDocument/2006/relationships/notesMaster" Target="/ppt/notesMasters/notesMaster1.xml" Id="Rb7263795c7a940d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1feed5fae034866" /><Relationship Type="http://schemas.openxmlformats.org/officeDocument/2006/relationships/notesMaster" Target="/ppt/notesMasters/notesMaster1.xml" Id="R696c1e8f915448b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2374fcd23bc47a5" /><Relationship Type="http://schemas.openxmlformats.org/officeDocument/2006/relationships/notesMaster" Target="/ppt/notesMasters/notesMaster1.xml" Id="Rcef6ed8c7806436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e6f9150a3054daa" /><Relationship Type="http://schemas.openxmlformats.org/officeDocument/2006/relationships/notesMaster" Target="/ppt/notesMasters/notesMaster1.xml" Id="R45f98266449648d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 da ilustração: imagem criada para esta apresentação com IA generativa. A imagem é conceitual e não substitui as fotos reais do experimento.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Conteúdo baseado nas orientações fornecidas no PDF do trabalho: montagem da pilha caseira, medição com multímetro, funcionamento de um LED e explicação química.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quantidade de seis batatas foi escolhida para aumentar a chance de o LED acender. Fontes consultadas: https://heyplix.mit.edu/t/alternatives-to-coin-cell-batteries/1703 e https://www.unco.edu/nhs/science/pdf/demos/Chemistry_Demos.pdf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Fale durante a apresentação: a batata fornece o meio úmido com íons. Ela não deve ser consumida depois do experimento.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Fontes: University of Northern Colorado, Potato Battery: https://www.unco.edu/nhs/science/pdf/demos/Chemistry_Demos.pdf. University of Illinois Physics Van: https://van.physics.illinois.edu/ask/listing/2396. Observação: cada célula tem zinco negativo e cobre positivo. Em série, conecta-se o polo positivo de uma célula ao negativo da seguinte.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 para a explicação da célula Zn/Cu com batata: https://anaisonline.uems.br/seminarioformacaodocente/article/download/10511/9659/24891 e University of Illinois Physics Van: https://van.physics.illinois.edu/ask/listing/2400. O cobre atua principalmente como superfície condutora para a redução; não há solução preparada de íons Cu2+ como na pilha de Daniell.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Preencher este slide somente depois do teste real. Não inventar o valor do multímetro. Fotografar a leitura com os dígitos visíveis e o LED em ambiente mais escuro se o brilho estiver fraco.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conclusão deve refletir o teste real. Se o LED não acendeu, isso não elimina a produção de tensão. Explique a resistência interna elevada e use a leitura do multímetro como evidência.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Referências completas:</a:t>
            </a:r>
          </a:p>
          <a:p xmlns:a="http://schemas.openxmlformats.org/drawingml/2006/main">
            <a:r>
              <a:t>1. Documento fornecido pelo professor: C:/Users/ppfti/OneDrive/Desktop/o que fazer batata inglesa.pdf</a:t>
            </a:r>
          </a:p>
          <a:p xmlns:a="http://schemas.openxmlformats.org/drawingml/2006/main">
            <a:r>
              <a:t>2. University of Northern Colorado. Potato Battery. https://www.unco.edu/nhs/science/pdf/demos/Chemistry_Demos.pdf</a:t>
            </a:r>
          </a:p>
          <a:p xmlns:a="http://schemas.openxmlformats.org/drawingml/2006/main">
            <a:r>
              <a:t>3. University of Illinois Physics Van. How Many Potatoes in a Potato Battery? https://van.physics.illinois.edu/ask/listing/2396</a:t>
            </a:r>
          </a:p>
          <a:p xmlns:a="http://schemas.openxmlformats.org/drawingml/2006/main">
            <a:r>
              <a:t>4. University of Illinois Physics Van. Potato Battery. https://van.physics.illinois.edu/ask/listing/2400</a:t>
            </a:r>
          </a:p>
          <a:p xmlns:a="http://schemas.openxmlformats.org/drawingml/2006/main">
            <a:r>
              <a:t>5. MIT PLIX. Alternatives to coin-cell batteries. https://heyplix.mit.edu/t/alternatives-to-coin-cell-batteries/1703</a:t>
            </a:r>
          </a:p>
          <a:p xmlns:a="http://schemas.openxmlformats.org/drawingml/2006/main">
            <a:r>
              <a:t>6. Vídeo: Pilha de Batata (ou Batateria). https://www.youtube.com/watch?v=sgajFGJ7g5Q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d2c733f6af44a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330ffabf04495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4d58318c7845f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7ecec797e44f3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2d0bb1e21547a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1c3973943e4e1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7CFDD54-A7CD-4315-B757-845286C137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59F33EC-BC4C-4412-9314-C1602BD40E6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56A9B52-46E2-4F0A-B7B9-EB92B806E5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4A40453-8CE4-438B-A3C0-CB5DB1C35E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F1D0EAB-78CF-4215-9DA2-6433B9FE4B1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F73E7F5-3B39-44A3-88E0-BF7E51CCD7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A4DE5F2-E54B-441F-8E6E-4BBBC0ED452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FE35280-690B-4F61-A5D6-E7BA11142EC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0C1D616-DCE5-4350-ADDB-3D33D51925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61036AC-CA19-4CD0-83B0-279B2B09E27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d7920bf9bdf4883" /><Relationship Type="http://schemas.openxmlformats.org/officeDocument/2006/relationships/slideLayout" Target="/ppt/slideLayouts/slideLayout1.xml" Id="R6af084ab2a76462d" /><Relationship Type="http://schemas.openxmlformats.org/officeDocument/2006/relationships/slideLayout" Target="/ppt/slideLayouts/slideLayout2.xml" Id="R879d15a65d6241d3" /><Relationship Type="http://schemas.openxmlformats.org/officeDocument/2006/relationships/slideLayout" Target="/ppt/slideLayouts/slideLayout3.xml" Id="Rc71e5bec3f00412a" /><Relationship Type="http://schemas.openxmlformats.org/officeDocument/2006/relationships/slideLayout" Target="/ppt/slideLayouts/slideLayout4.xml" Id="R8667d67bf29d4c23" /><Relationship Type="http://schemas.openxmlformats.org/officeDocument/2006/relationships/slideLayout" Target="/ppt/slideLayouts/slideLayout5.xml" Id="R872c225016414f86" /><Relationship Type="http://schemas.openxmlformats.org/officeDocument/2006/relationships/slideLayout" Target="/ppt/slideLayouts/slideLayout6.xml" Id="Rf5b826a655314c1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af084ab2a76462d"/>
    <p:sldLayoutId xmlns:r="http://schemas.openxmlformats.org/officeDocument/2006/relationships" id="2147483650" r:id="R879d15a65d6241d3"/>
    <p:sldLayoutId xmlns:r="http://schemas.openxmlformats.org/officeDocument/2006/relationships" id="2147483651" r:id="Rc71e5bec3f00412a"/>
    <p:sldLayoutId xmlns:r="http://schemas.openxmlformats.org/officeDocument/2006/relationships" id="2147483652" r:id="R8667d67bf29d4c23"/>
    <p:sldLayoutId xmlns:r="http://schemas.openxmlformats.org/officeDocument/2006/relationships" id="2147483653" r:id="R872c225016414f86"/>
    <p:sldLayoutId xmlns:r="http://schemas.openxmlformats.org/officeDocument/2006/relationships" id="2147483654" r:id="Rf5b826a655314c1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3160713cd14532" /><Relationship Type="http://schemas.openxmlformats.org/officeDocument/2006/relationships/image" Target="/ppt/media/image.png" Id="R7bb0991d83a34ca1" /><Relationship Type="http://schemas.openxmlformats.org/officeDocument/2006/relationships/notesSlide" Target="/ppt/notesSlides/notesSlide1.xml" Id="R005d2b9ea7fd48d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b10c8ee32645f7" /><Relationship Type="http://schemas.openxmlformats.org/officeDocument/2006/relationships/notesSlide" Target="/ppt/notesSlides/notesSlide2.xml" Id="R69e235cf8b2b412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2925a09504434b" /><Relationship Type="http://schemas.openxmlformats.org/officeDocument/2006/relationships/notesSlide" Target="/ppt/notesSlides/notesSlide3.xml" Id="Rdbbbdf7dab4d4aa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6d452586ee4157" /><Relationship Type="http://schemas.openxmlformats.org/officeDocument/2006/relationships/notesSlide" Target="/ppt/notesSlides/notesSlide4.xml" Id="R4acdb2a7a13f442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2f7cbfb2994e6b" /><Relationship Type="http://schemas.openxmlformats.org/officeDocument/2006/relationships/notesSlide" Target="/ppt/notesSlides/notesSlide5.xml" Id="Ra1044ad0d65549d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08b88c47684e2d" /><Relationship Type="http://schemas.openxmlformats.org/officeDocument/2006/relationships/notesSlide" Target="/ppt/notesSlides/notesSlide6.xml" Id="R4747d8a764a141f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3219522ee1425f" /><Relationship Type="http://schemas.openxmlformats.org/officeDocument/2006/relationships/notesSlide" Target="/ppt/notesSlides/notesSlide7.xml" Id="Rb2a02ef5f814427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9e337b09734ebe" /><Relationship Type="http://schemas.openxmlformats.org/officeDocument/2006/relationships/notesSlide" Target="/ppt/notesSlides/notesSlide8.xml" Id="R40dcc75ec251493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12f73a71f140a8" /><Relationship Type="http://schemas.openxmlformats.org/officeDocument/2006/relationships/notesSlide" Target="/ppt/notesSlides/notesSlide9.xml" Id="R07dea971b341466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A22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C1ED84-A223-4C76-A520-EE664D667E8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b0991d83a34ca1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B7CF49-4DC9-4B25-834D-6A5A55EAD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857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6B12D1-9C81-46D4-AE44-EBC4832DF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71D3C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71D3C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1D3CE"/>
                </a:solidFill>
                <a:latin typeface="Arial"/>
                <a:ea typeface="Arial"/>
                <a:cs typeface="Arial"/>
              </a:rPr>
              <a:t>PILHA CASEIRA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EC05CA-BC8A-4BB4-8E89-29CDCA1DE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33500"/>
            <a:ext cx="3905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Pilha de</a:t>
            </a:r>
          </a:p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batata inglesa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ECBF52-517B-48F6-ADCA-38735BCED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352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DCE9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DCE9E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CE9ED"/>
                </a:solidFill>
                <a:latin typeface="Arial"/>
                <a:ea typeface="Arial"/>
                <a:cs typeface="Arial"/>
              </a:rPr>
              <a:t>Transformação de energia química em energia elétrica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861FC5-3382-4145-A403-06604E22F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110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NOMES: [INSERIR INTEGRANTES]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87B87C-1AE8-4E6B-B145-FEBD38073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5305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DCE9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DCE9E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DCE9ED"/>
                </a:solidFill>
                <a:latin typeface="Arial"/>
                <a:ea typeface="Arial"/>
                <a:cs typeface="Arial"/>
              </a:rPr>
              <a:t>TURMA: [INSERIR]     DATA: [INSERIR]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2CAA52-41F8-4B6A-A4EC-E009E83DD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341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86B7C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86B7C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86B7C0"/>
                </a:solidFill>
                <a:latin typeface="Arial"/>
                <a:ea typeface="Arial"/>
                <a:cs typeface="Arial"/>
              </a:rPr>
              <a:t>3º ano - Química</a:t>
            </a:r>
          </a:p>
        </p:txBody>
      </p:sp>
    </p:spTree>
    <p:extLst>
      <p:ext uri="{BB962C8B-B14F-4D97-AF65-F5344CB8AC3E}">
        <p14:creationId xmlns:p14="http://schemas.microsoft.com/office/powerpoint/2010/main" val="9512455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9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4A9335-FD41-4EB9-ABFD-B1B3C2536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C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4E88B5-5B06-4A40-BDBD-82D8CF1F3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A2235"/>
                </a:solidFill>
                <a:latin typeface="Arial"/>
                <a:ea typeface="Arial"/>
                <a:cs typeface="Arial"/>
              </a:rPr>
              <a:t>Objetivo do experimento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3C290A-03A4-48EB-8D58-796196D1E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457200"/>
            <a:ext cx="723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r">
              <a:defRPr sz="135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5B6DDD-30A5-4287-9B83-38208665D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F89791-59BD-41A3-A29B-4C00D4D7D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478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97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OBJETIVO PRINCIPAL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E2B23E-DD23-4166-8BE9-1A000329F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71650"/>
            <a:ext cx="6381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A2235"/>
                </a:solidFill>
                <a:latin typeface="Arial"/>
                <a:ea typeface="Arial"/>
                <a:cs typeface="Arial"/>
              </a:rPr>
              <a:t>Construir uma pilha caseira com batatas, cobre e zinco capaz de produzir diferença de potencial e acender um LED de baixa voltagem.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F5D43B-A6E0-44F2-B468-C4A5CE99C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466850"/>
            <a:ext cx="3752850" cy="1924050"/>
          </a:xfrm>
          <a:prstGeom xmlns:a="http://schemas.openxmlformats.org/drawingml/2006/main" prst="roundRect">
            <a:avLst>
              <a:gd name="adj" fmla="val 5941"/>
            </a:avLst>
          </a:prstGeom>
          <a:solidFill xmlns:a="http://schemas.openxmlformats.org/drawingml/2006/main">
            <a:srgbClr val="DD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4CACED-8DCE-454B-967E-27AF9B98C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7716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Hipótese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9689D4-F9E9-4A3A-A9F9-F2B0D2FA0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228850"/>
            <a:ext cx="29908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13243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3243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32434"/>
                </a:solidFill>
                <a:latin typeface="Arial"/>
                <a:ea typeface="Arial"/>
                <a:cs typeface="Arial"/>
              </a:rPr>
              <a:t>Ao conectar várias células de batata em série, as tensões se somam e podem superar a tensão mínima necessária para o LED.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062932-4E98-4E62-B34A-B398F046F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97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O QUE SERÁ OBSERVADO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E2113E-C204-4F91-80C9-41CC59524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195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3243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32434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434"/>
                </a:solidFill>
                <a:latin typeface="Arial"/>
                <a:ea typeface="Arial"/>
                <a:cs typeface="Arial"/>
              </a:rPr>
              <a:t>Diferença de potencial medida com multímetro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F8B9ED-1A8B-42AF-A009-8456D847C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24375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3243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32434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434"/>
                </a:solidFill>
                <a:latin typeface="Arial"/>
                <a:ea typeface="Arial"/>
                <a:cs typeface="Arial"/>
              </a:rPr>
              <a:t>Polaridade correta e brilho do LED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3EDF46-BA84-4B86-843A-62164CBD7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29200"/>
            <a:ext cx="571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3243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32434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434"/>
                </a:solidFill>
                <a:latin typeface="Arial"/>
                <a:ea typeface="Arial"/>
                <a:cs typeface="Arial"/>
              </a:rPr>
              <a:t>Relação entre as reações químicas e o fluxo de elétrons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5EA035-126B-498E-9622-3F0ADA527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714750"/>
            <a:ext cx="37528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5FAFA"/>
          </a:solidFill>
          <a:ln xmlns:a="http://schemas.openxmlformats.org/drawingml/2006/main" w="19050">
            <a:solidFill>
              <a:srgbClr val="76A9A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C48811-A2D6-4F46-B3E7-A22F29035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476750"/>
            <a:ext cx="3295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INSERIR FOTO DO GRUPO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68BC6B-8752-4B89-8073-CF44A0AA4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8768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900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00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96C7B"/>
                </a:solidFill>
                <a:latin typeface="Arial"/>
                <a:ea typeface="Arial"/>
                <a:cs typeface="Arial"/>
              </a:rPr>
              <a:t>Substitua por uma foto do grupo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F81AD4-768E-4E3D-8B02-B176E5962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96C7B"/>
                </a:solidFill>
                <a:latin typeface="Arial"/>
                <a:ea typeface="Arial"/>
                <a:cs typeface="Arial"/>
              </a:rPr>
              <a:t>Trabalho trimestral de Química</a:t>
            </a:r>
          </a:p>
        </p:txBody>
      </p:sp>
    </p:spTree>
    <p:extLst>
      <p:ext uri="{BB962C8B-B14F-4D97-AF65-F5344CB8AC3E}">
        <p14:creationId xmlns:p14="http://schemas.microsoft.com/office/powerpoint/2010/main" val="19822709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5DAB765-9931-4966-832D-A1704B19F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C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9A12AE-C92D-4ED2-A80F-BB58DE6E3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A2235"/>
                </a:solidFill>
                <a:latin typeface="Arial"/>
                <a:ea typeface="Arial"/>
                <a:cs typeface="Arial"/>
              </a:rPr>
              <a:t>Materiais utilizados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0C92D8-C164-48C0-B545-6E3CCDF5E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457200"/>
            <a:ext cx="723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r">
              <a:defRPr sz="135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6737DD-B05B-4D92-8465-18AF23730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10924F-8D63-44A2-A3C9-EDFE47516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97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PARA A MONTAGEM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AA7490-39DD-4F50-856B-B6316FFCE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954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C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DE74DD-5F41-462B-802A-CA1D20806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2405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2F1340-78FE-4107-BA5B-0A0FB4ECE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86690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A2235"/>
                </a:solidFill>
                <a:latin typeface="Arial"/>
                <a:ea typeface="Arial"/>
                <a:cs typeface="Arial"/>
              </a:rPr>
              <a:t>6 batatas inglesas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D5ADAD-9DAB-4A23-B97D-F81C40005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62175"/>
            <a:ext cx="428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C7B"/>
                </a:solidFill>
                <a:latin typeface="Arial"/>
                <a:ea typeface="Arial"/>
                <a:cs typeface="Arial"/>
              </a:rPr>
              <a:t>Cada batata funciona como uma célula eletroquímica.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7DE6D6-64A6-4921-B815-D44A28EA4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03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C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08084A-B4A3-4CA4-A2BE-E747983D4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519E6A-6929-426F-A612-67C536A9B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97180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A2235"/>
                </a:solidFill>
                <a:latin typeface="Arial"/>
                <a:ea typeface="Arial"/>
                <a:cs typeface="Arial"/>
              </a:rPr>
              <a:t>6 pregos galvanizados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2E1C76-600F-4312-AA6F-8AAE835F8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67075"/>
            <a:ext cx="428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C7B"/>
                </a:solidFill>
                <a:latin typeface="Arial"/>
                <a:ea typeface="Arial"/>
                <a:cs typeface="Arial"/>
              </a:rPr>
              <a:t>O revestimento de zinco forma o polo negativo.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015711-8B9A-4A85-902A-B5D3DF0FA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052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C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893CCB-ACFA-4584-A0F8-5E90281AE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3385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728CDA-1D28-46A9-AA78-84B1DC6A2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7670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A2235"/>
                </a:solidFill>
                <a:latin typeface="Arial"/>
                <a:ea typeface="Arial"/>
                <a:cs typeface="Arial"/>
              </a:rPr>
              <a:t>6 placas ou fios grossos de cobre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A1CF72-A1B5-4C54-A027-6D37EAF00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71975"/>
            <a:ext cx="428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C7B"/>
                </a:solidFill>
                <a:latin typeface="Arial"/>
                <a:ea typeface="Arial"/>
                <a:cs typeface="Arial"/>
              </a:rPr>
              <a:t>O cobre funciona como polo positivo.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52D1ED-1079-41EE-A052-9E07581C9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8954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C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54F45D-50E6-445A-8F83-BB40F4955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92405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6D92C7-187D-49BB-AF81-5B79F8747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86690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A2235"/>
                </a:solidFill>
                <a:latin typeface="Arial"/>
                <a:ea typeface="Arial"/>
                <a:cs typeface="Arial"/>
              </a:rPr>
              <a:t>7 fios com garras jacaré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1C63CA-A7A4-406A-96C1-8C09F1754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62175"/>
            <a:ext cx="428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C7B"/>
                </a:solidFill>
                <a:latin typeface="Arial"/>
                <a:ea typeface="Arial"/>
                <a:cs typeface="Arial"/>
              </a:rPr>
              <a:t>Cinco ligações entre batatas e duas para o LED.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84E581-487C-4901-9C13-F6935564C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0003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C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AF450F-3622-40EF-9159-C6D3E1F7C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02895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2B7AA1-59E4-47C3-8F67-9BDB3FE0B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97180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A2235"/>
                </a:solidFill>
                <a:latin typeface="Arial"/>
                <a:ea typeface="Arial"/>
                <a:cs typeface="Arial"/>
              </a:rPr>
              <a:t>LED vermelho de 5 mm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6A479A-C4DA-4464-84AF-B88A49DEF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267075"/>
            <a:ext cx="428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C7B"/>
                </a:solidFill>
                <a:latin typeface="Arial"/>
                <a:ea typeface="Arial"/>
                <a:cs typeface="Arial"/>
              </a:rPr>
              <a:t>Modelo de baixo consumo e menor tensão de acionamento.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2E4F8B-5B57-4A49-93DB-0A3C973FA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1052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C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4E2833-39D8-4731-8E51-D31EFC945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13385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B819FEA-8646-4002-BD4D-05E5D41EC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7670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A2235"/>
                </a:solidFill>
                <a:latin typeface="Arial"/>
                <a:ea typeface="Arial"/>
                <a:cs typeface="Arial"/>
              </a:rPr>
              <a:t>Multímetro e lixa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F6E76BB-4886-4A8A-8C88-DF1E067D1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371975"/>
            <a:ext cx="428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C7B"/>
                </a:solidFill>
                <a:latin typeface="Arial"/>
                <a:ea typeface="Arial"/>
                <a:cs typeface="Arial"/>
              </a:rPr>
              <a:t>Para medir a tensão e limpar os eletrodos.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2A92296-85C8-4144-8D03-6CE77B6EC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857750"/>
            <a:ext cx="27432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5FAFA"/>
          </a:solidFill>
          <a:ln xmlns:a="http://schemas.openxmlformats.org/drawingml/2006/main" w="19050">
            <a:solidFill>
              <a:srgbClr val="76A9A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714D902-F0CF-405E-B563-5EFB32211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20065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INSERIR FOTO DOS MATERIAIS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63EA10D-8259-4BA3-A20D-B976EE34E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5600700"/>
            <a:ext cx="2324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900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00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96C7B"/>
                </a:solidFill>
                <a:latin typeface="Arial"/>
                <a:ea typeface="Arial"/>
                <a:cs typeface="Arial"/>
              </a:rPr>
              <a:t>Foto antes da montagem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C9AB3FF-1912-4B99-B2CA-53AA662E3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00700"/>
            <a:ext cx="7448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DE4A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E4A4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E4A4A"/>
                </a:solidFill>
                <a:latin typeface="Arial"/>
                <a:ea typeface="Arial"/>
                <a:cs typeface="Arial"/>
              </a:rPr>
              <a:t>Atenção: cobre e zinco precisam ser metais diferentes e não podem se tocar dentro da batata.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DEBDB5B-CCB7-4EE9-9833-CA93A9274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96C7B"/>
                </a:solidFill>
                <a:latin typeface="Arial"/>
                <a:ea typeface="Arial"/>
                <a:cs typeface="Arial"/>
              </a:rPr>
              <a:t>Trabalho trimestral de Química</a:t>
            </a:r>
          </a:p>
        </p:txBody>
      </p:sp>
    </p:spTree>
    <p:extLst>
      <p:ext uri="{BB962C8B-B14F-4D97-AF65-F5344CB8AC3E}">
        <p14:creationId xmlns:p14="http://schemas.microsoft.com/office/powerpoint/2010/main" val="151245879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9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E17C47D-F12F-4D88-B74B-446B78447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C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991118-276F-48D5-BF77-040443C52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A2235"/>
                </a:solidFill>
                <a:latin typeface="Arial"/>
                <a:ea typeface="Arial"/>
                <a:cs typeface="Arial"/>
              </a:rPr>
              <a:t>Montagem das células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C2003F-D3CD-432D-9C42-0B11A902D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457200"/>
            <a:ext cx="723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r">
              <a:defRPr sz="135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6D6B05-6E91-4493-A432-08EB0C0B5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89194E-CB84-48C2-AF36-11B796D25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954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C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20AA94-AC9F-42D0-AFB8-ED161295D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A0E572-CCA2-44E8-B8FD-4A57B7499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466850"/>
            <a:ext cx="466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A2235"/>
                </a:solidFill>
                <a:latin typeface="Arial"/>
                <a:ea typeface="Arial"/>
                <a:cs typeface="Arial"/>
              </a:rPr>
              <a:t>Preparação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203430-68A4-4CEB-A9BB-1B23100C7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762125"/>
            <a:ext cx="466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C7B"/>
                </a:solidFill>
                <a:latin typeface="Arial"/>
                <a:ea typeface="Arial"/>
                <a:cs typeface="Arial"/>
              </a:rPr>
              <a:t>Numeramos as batatas e lixamos as superfícies do cobre e do zinco.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0DFFDF-FB5F-41A9-9DCA-4D9D00F66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C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B8AD82-7C95-4B86-B92C-E1048C9DA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86025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764488-75DB-4CE1-9B18-0435FA084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28875"/>
            <a:ext cx="466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A2235"/>
                </a:solidFill>
                <a:latin typeface="Arial"/>
                <a:ea typeface="Arial"/>
                <a:cs typeface="Arial"/>
              </a:rPr>
              <a:t>Inserção dos eletrodos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F7A02F-0D2E-46B8-8989-6BD8E63C8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466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C7B"/>
                </a:solidFill>
                <a:latin typeface="Arial"/>
                <a:ea typeface="Arial"/>
                <a:cs typeface="Arial"/>
              </a:rPr>
              <a:t>Colocamos um eletrodo de cobre e um prego galvanizado em cada batata.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0CF069-D869-406D-BD3E-BE414EA29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194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C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48D5C6-9397-4C26-92F1-5C1C91E19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4805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55FA67-F4E1-4D5B-858D-3A329FCEA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390900"/>
            <a:ext cx="466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A2235"/>
                </a:solidFill>
                <a:latin typeface="Arial"/>
                <a:ea typeface="Arial"/>
                <a:cs typeface="Arial"/>
              </a:rPr>
              <a:t>Separação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3C7E7A-0AA6-4F08-BA77-72A301A6B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86175"/>
            <a:ext cx="466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C7B"/>
                </a:solidFill>
                <a:latin typeface="Arial"/>
                <a:ea typeface="Arial"/>
                <a:cs typeface="Arial"/>
              </a:rPr>
              <a:t>Mantivemos cerca de 2 a 3 cm entre os metais, sem contato interno.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085B62-BC5A-4271-A3DD-C2A27B758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C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1D474B-51CF-44F8-8BBC-AE641352F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10075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05FA0F-8CC1-4BBB-8D52-02D5DD759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52925"/>
            <a:ext cx="466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A2235"/>
                </a:solidFill>
                <a:latin typeface="Arial"/>
                <a:ea typeface="Arial"/>
                <a:cs typeface="Arial"/>
              </a:rPr>
              <a:t>Organização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41E5B7-15AD-4C68-915F-F045D97F7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48200"/>
            <a:ext cx="466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C7B"/>
                </a:solidFill>
                <a:latin typeface="Arial"/>
                <a:ea typeface="Arial"/>
                <a:cs typeface="Arial"/>
              </a:rPr>
              <a:t>Alinhamos as seis batatas para facilitar as ligações em série.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81069D-679D-49AE-91CB-8A6865CFF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466850"/>
            <a:ext cx="4762500" cy="1952625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5FAFA"/>
          </a:solidFill>
          <a:ln xmlns:a="http://schemas.openxmlformats.org/drawingml/2006/main" w="19050">
            <a:solidFill>
              <a:srgbClr val="76A9A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9A64A5-7321-41C7-A2C1-1807296E6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157413"/>
            <a:ext cx="430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FOTO 1: PREPARAÇÃO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B4B3B6-2578-491B-99BE-C45C6AF63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557463"/>
            <a:ext cx="434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900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00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96C7B"/>
                </a:solidFill>
                <a:latin typeface="Arial"/>
                <a:ea typeface="Arial"/>
                <a:cs typeface="Arial"/>
              </a:rPr>
              <a:t>Substitua por uma foto do grupo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F1EF9B-01D4-4C71-9CDA-38FFC7942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05225"/>
            <a:ext cx="4762500" cy="1952625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5FAFA"/>
          </a:solidFill>
          <a:ln xmlns:a="http://schemas.openxmlformats.org/drawingml/2006/main" w="19050">
            <a:solidFill>
              <a:srgbClr val="76A9A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B009C7-BA3F-420E-B607-06D268BD3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395788"/>
            <a:ext cx="430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FOTO 2: ELETRODOS NAS BATATAS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355928-13EA-4843-B488-E63BA8136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795838"/>
            <a:ext cx="434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900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00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96C7B"/>
                </a:solidFill>
                <a:latin typeface="Arial"/>
                <a:ea typeface="Arial"/>
                <a:cs typeface="Arial"/>
              </a:rPr>
              <a:t>Substitua por uma foto do grupo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960326-B9AF-42E0-907A-DD6876672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8388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975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96C7B"/>
                </a:solidFill>
                <a:latin typeface="Arial"/>
                <a:ea typeface="Arial"/>
                <a:cs typeface="Arial"/>
              </a:rPr>
              <a:t>[Adicione pequenas legendas com o que está acontecendo em cada foto]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7F58280-7F17-408F-B3B1-EA59C4758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96C7B"/>
                </a:solidFill>
                <a:latin typeface="Arial"/>
                <a:ea typeface="Arial"/>
                <a:cs typeface="Arial"/>
              </a:rPr>
              <a:t>Trabalho trimestral de Química</a:t>
            </a:r>
          </a:p>
        </p:txBody>
      </p:sp>
    </p:spTree>
    <p:extLst>
      <p:ext uri="{BB962C8B-B14F-4D97-AF65-F5344CB8AC3E}">
        <p14:creationId xmlns:p14="http://schemas.microsoft.com/office/powerpoint/2010/main" val="98472094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E2DC448-0AC1-4BBD-8633-6BF4536A6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C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6E304C-50C4-4222-ADF8-2F5AE0451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A2235"/>
                </a:solidFill>
                <a:latin typeface="Arial"/>
                <a:ea typeface="Arial"/>
                <a:cs typeface="Arial"/>
              </a:rPr>
              <a:t>Ligação em série e polaridade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E41FA1-7B41-4871-9752-2FCBD7098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457200"/>
            <a:ext cx="723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r">
              <a:defRPr sz="135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4DD2CC-A4A6-48EE-8B3E-173F2D0F3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A148FC-7178-47DC-BC34-B75568F58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3243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3243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32434"/>
                </a:solidFill>
                <a:latin typeface="Arial"/>
                <a:ea typeface="Arial"/>
                <a:cs typeface="Arial"/>
              </a:rPr>
              <a:t>Ligamos o cobre de uma batata ao zinco da batata seguinte. Assim, as tensões das células se somam.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203EF7-F82F-4BAF-BD5F-259D02FA3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57500"/>
            <a:ext cx="857250" cy="12573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5A66E"/>
          </a:solidFill>
          <a:ln xmlns:a="http://schemas.openxmlformats.org/drawingml/2006/main" w="19050">
            <a:solidFill>
              <a:srgbClr val="B9855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C5EBA9-FD11-4826-A6B8-6C4243DDE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495550"/>
            <a:ext cx="1619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5BE"/>
          </a:solidFill>
          <a:ln xmlns:a="http://schemas.openxmlformats.org/drawingml/2006/main" w="9525">
            <a:solidFill>
              <a:srgbClr val="75838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EBEE40-818E-4B65-ADAF-58B904F7A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2495550"/>
            <a:ext cx="1619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83A"/>
          </a:solidFill>
          <a:ln xmlns:a="http://schemas.openxmlformats.org/drawingml/2006/main" w="9525">
            <a:solidFill>
              <a:srgbClr val="8E4A2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C2B83D-3F15-4152-9387-09024BC7E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71850"/>
            <a:ext cx="933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975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A2235"/>
                </a:solidFill>
                <a:latin typeface="Arial"/>
                <a:ea typeface="Arial"/>
                <a:cs typeface="Arial"/>
              </a:rPr>
              <a:t>Batata 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EC1338-609B-4B3E-ACCE-F05C0E0B3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3812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975" b="1">
                <a:solidFill>
                  <a:srgbClr val="66747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66747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6747D"/>
                </a:solidFill>
                <a:latin typeface="Arial"/>
                <a:ea typeface="Arial"/>
                <a:cs typeface="Arial"/>
              </a:rPr>
              <a:t>Zn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69BA0A-09DD-49B0-84CF-94837AF26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3812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975" b="1">
                <a:solidFill>
                  <a:srgbClr val="B968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B9683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9683A"/>
                </a:solidFill>
                <a:latin typeface="Arial"/>
                <a:ea typeface="Arial"/>
                <a:cs typeface="Arial"/>
              </a:rPr>
              <a:t>Cu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B9EEC6-3370-4DD1-B68D-61F174CEE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571750"/>
            <a:ext cx="1162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C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C0B5C8-2E19-487A-A84A-C8E457EBE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857500"/>
            <a:ext cx="857250" cy="12573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5A66E"/>
          </a:solidFill>
          <a:ln xmlns:a="http://schemas.openxmlformats.org/drawingml/2006/main" w="19050">
            <a:solidFill>
              <a:srgbClr val="B9855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19C648-1FEB-4210-AC46-62C3BABA8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495550"/>
            <a:ext cx="1619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5BE"/>
          </a:solidFill>
          <a:ln xmlns:a="http://schemas.openxmlformats.org/drawingml/2006/main" w="9525">
            <a:solidFill>
              <a:srgbClr val="75838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CF731A-1671-40B9-9CE7-A81E4EBAA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495550"/>
            <a:ext cx="1619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83A"/>
          </a:solidFill>
          <a:ln xmlns:a="http://schemas.openxmlformats.org/drawingml/2006/main" w="9525">
            <a:solidFill>
              <a:srgbClr val="8E4A2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E66C90-8640-4810-8567-944135A18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371850"/>
            <a:ext cx="933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975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A2235"/>
                </a:solidFill>
                <a:latin typeface="Arial"/>
                <a:ea typeface="Arial"/>
                <a:cs typeface="Arial"/>
              </a:rPr>
              <a:t>Batata 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835572-5239-4999-BFC7-22DE59A09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3812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975" b="1">
                <a:solidFill>
                  <a:srgbClr val="66747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66747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6747D"/>
                </a:solidFill>
                <a:latin typeface="Arial"/>
                <a:ea typeface="Arial"/>
                <a:cs typeface="Arial"/>
              </a:rPr>
              <a:t>Zn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2781CD-DDC5-47D9-8405-9765BAD4D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3812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975" b="1">
                <a:solidFill>
                  <a:srgbClr val="B968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B9683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9683A"/>
                </a:solidFill>
                <a:latin typeface="Arial"/>
                <a:ea typeface="Arial"/>
                <a:cs typeface="Arial"/>
              </a:rPr>
              <a:t>Cu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BD4DB0-4D8D-4C45-8D30-89E861F84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71750"/>
            <a:ext cx="1162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C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3CCF3C-ED74-4386-9B94-FBA79471E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857500"/>
            <a:ext cx="857250" cy="12573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5A66E"/>
          </a:solidFill>
          <a:ln xmlns:a="http://schemas.openxmlformats.org/drawingml/2006/main" w="19050">
            <a:solidFill>
              <a:srgbClr val="B9855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D7B530-94DB-49BA-AB45-615155EEF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495550"/>
            <a:ext cx="1619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5BE"/>
          </a:solidFill>
          <a:ln xmlns:a="http://schemas.openxmlformats.org/drawingml/2006/main" w="9525">
            <a:solidFill>
              <a:srgbClr val="75838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EC6C58-D1D4-4059-AB0C-4AC1A04B1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2495550"/>
            <a:ext cx="1619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83A"/>
          </a:solidFill>
          <a:ln xmlns:a="http://schemas.openxmlformats.org/drawingml/2006/main" w="9525">
            <a:solidFill>
              <a:srgbClr val="8E4A2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0D66F1-CB33-4493-AFB7-69E3D5249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371850"/>
            <a:ext cx="933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975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A2235"/>
                </a:solidFill>
                <a:latin typeface="Arial"/>
                <a:ea typeface="Arial"/>
                <a:cs typeface="Arial"/>
              </a:rPr>
              <a:t>Batata 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D6F9F7-B43B-4159-B69A-1E5BCE067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812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975" b="1">
                <a:solidFill>
                  <a:srgbClr val="66747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66747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6747D"/>
                </a:solidFill>
                <a:latin typeface="Arial"/>
                <a:ea typeface="Arial"/>
                <a:cs typeface="Arial"/>
              </a:rPr>
              <a:t>Zn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2E6CB0-CA3B-4EEA-8FCD-7EFCF86AB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3812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975" b="1">
                <a:solidFill>
                  <a:srgbClr val="B968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B9683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9683A"/>
                </a:solidFill>
                <a:latin typeface="Arial"/>
                <a:ea typeface="Arial"/>
                <a:cs typeface="Arial"/>
              </a:rPr>
              <a:t>Cu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D66AE3E-623F-4F9C-89BB-56E371AF0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571750"/>
            <a:ext cx="1162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C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F72E07-B084-4BE7-A62E-650B421D0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57500"/>
            <a:ext cx="857250" cy="12573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5A66E"/>
          </a:solidFill>
          <a:ln xmlns:a="http://schemas.openxmlformats.org/drawingml/2006/main" w="19050">
            <a:solidFill>
              <a:srgbClr val="B9855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64186B-80D4-4D91-BC74-DA41BA99D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95550"/>
            <a:ext cx="1619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5BE"/>
          </a:solidFill>
          <a:ln xmlns:a="http://schemas.openxmlformats.org/drawingml/2006/main" w="9525">
            <a:solidFill>
              <a:srgbClr val="75838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BB6B03B-469A-48B0-9CBD-5856EBC88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2495550"/>
            <a:ext cx="1619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83A"/>
          </a:solidFill>
          <a:ln xmlns:a="http://schemas.openxmlformats.org/drawingml/2006/main" w="9525">
            <a:solidFill>
              <a:srgbClr val="8E4A2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A971726-06DE-475D-B2CE-AEC1B9D37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371850"/>
            <a:ext cx="933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975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A2235"/>
                </a:solidFill>
                <a:latin typeface="Arial"/>
                <a:ea typeface="Arial"/>
                <a:cs typeface="Arial"/>
              </a:rPr>
              <a:t>Batata 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8D09B76-B06D-4E3F-BC11-169FD504F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812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975" b="1">
                <a:solidFill>
                  <a:srgbClr val="66747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66747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6747D"/>
                </a:solidFill>
                <a:latin typeface="Arial"/>
                <a:ea typeface="Arial"/>
                <a:cs typeface="Arial"/>
              </a:rPr>
              <a:t>Zn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409F836-BC46-4DB0-9700-CD8455F3E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3812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975" b="1">
                <a:solidFill>
                  <a:srgbClr val="B968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B9683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9683A"/>
                </a:solidFill>
                <a:latin typeface="Arial"/>
                <a:ea typeface="Arial"/>
                <a:cs typeface="Arial"/>
              </a:rPr>
              <a:t>Cu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79A4969-293B-4E3B-AD9C-FC3CA4E74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571750"/>
            <a:ext cx="1162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C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180727E-C2FC-4B7C-960A-D0E288B9D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857500"/>
            <a:ext cx="857250" cy="12573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5A66E"/>
          </a:solidFill>
          <a:ln xmlns:a="http://schemas.openxmlformats.org/drawingml/2006/main" w="19050">
            <a:solidFill>
              <a:srgbClr val="B9855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BAEB85C-F387-41B0-A55A-44133EFF8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495550"/>
            <a:ext cx="1619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5BE"/>
          </a:solidFill>
          <a:ln xmlns:a="http://schemas.openxmlformats.org/drawingml/2006/main" w="9525">
            <a:solidFill>
              <a:srgbClr val="75838C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21C9D58-CCDD-47B0-926F-0448EAE59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495550"/>
            <a:ext cx="1619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83A"/>
          </a:solidFill>
          <a:ln xmlns:a="http://schemas.openxmlformats.org/drawingml/2006/main" w="9525">
            <a:solidFill>
              <a:srgbClr val="8E4A2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B25713B-03CD-42D8-AE3E-C5414AC53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371850"/>
            <a:ext cx="933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975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A2235"/>
                </a:solidFill>
                <a:latin typeface="Arial"/>
                <a:ea typeface="Arial"/>
                <a:cs typeface="Arial"/>
              </a:rPr>
              <a:t>Batata 5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19F3137-D3BD-43B1-9671-9C01EC12C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3812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975" b="1">
                <a:solidFill>
                  <a:srgbClr val="66747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66747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6747D"/>
                </a:solidFill>
                <a:latin typeface="Arial"/>
                <a:ea typeface="Arial"/>
                <a:cs typeface="Arial"/>
              </a:rPr>
              <a:t>Zn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8B618AC-B670-42E6-8F7A-148B87A5D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812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975" b="1">
                <a:solidFill>
                  <a:srgbClr val="B968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B9683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9683A"/>
                </a:solidFill>
                <a:latin typeface="Arial"/>
                <a:ea typeface="Arial"/>
                <a:cs typeface="Arial"/>
              </a:rPr>
              <a:t>Cu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754FDB9-9CCB-46F6-80E5-9563A955A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571750"/>
            <a:ext cx="1162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C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CCD70FD-26A3-40D1-BA30-865AFDCA5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857500"/>
            <a:ext cx="857250" cy="12573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5A66E"/>
          </a:solidFill>
          <a:ln xmlns:a="http://schemas.openxmlformats.org/drawingml/2006/main" w="19050">
            <a:solidFill>
              <a:srgbClr val="B9855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254F6DB-F662-4772-9CF8-42955F89E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95550"/>
            <a:ext cx="1619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5BE"/>
          </a:solidFill>
          <a:ln xmlns:a="http://schemas.openxmlformats.org/drawingml/2006/main" w="9525">
            <a:solidFill>
              <a:srgbClr val="75838C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25A8B49-62E9-4CED-A428-6918E2D3D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2495550"/>
            <a:ext cx="1619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83A"/>
          </a:solidFill>
          <a:ln xmlns:a="http://schemas.openxmlformats.org/drawingml/2006/main" w="9525">
            <a:solidFill>
              <a:srgbClr val="8E4A2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44BC0E7-B918-4D18-A63D-4CB5D878A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371850"/>
            <a:ext cx="933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975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A2235"/>
                </a:solidFill>
                <a:latin typeface="Arial"/>
                <a:ea typeface="Arial"/>
                <a:cs typeface="Arial"/>
              </a:rPr>
              <a:t>Batata 6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A965325-8C0D-4BF3-9E4F-7EFFDD0A9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3812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975" b="1">
                <a:solidFill>
                  <a:srgbClr val="66747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66747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6747D"/>
                </a:solidFill>
                <a:latin typeface="Arial"/>
                <a:ea typeface="Arial"/>
                <a:cs typeface="Arial"/>
              </a:rPr>
              <a:t>Zn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1CE4CEE-C41E-40FF-9FE4-C69ADDDB4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3812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975" b="1">
                <a:solidFill>
                  <a:srgbClr val="B968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B9683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9683A"/>
                </a:solidFill>
                <a:latin typeface="Arial"/>
                <a:ea typeface="Arial"/>
                <a:cs typeface="Arial"/>
              </a:rPr>
              <a:t>Cu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62577C0-34FE-41E7-A208-F1E855A33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00300"/>
            <a:ext cx="457200" cy="70485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DE4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1CF7A48-4810-41C2-A1FF-244220AD1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43175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2250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A2235"/>
                </a:solidFill>
                <a:latin typeface="Arial"/>
                <a:ea typeface="Arial"/>
                <a:cs typeface="Arial"/>
              </a:rPr>
              <a:t>−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065E692-D651-4FB4-AE19-5673F42C5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00300"/>
            <a:ext cx="457200" cy="70485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DE4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0D22FAF-3295-4672-88ED-F8C77497B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543175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2250" b="1">
                <a:solidFill>
                  <a:srgbClr val="DE4A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DE4A4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E4A4A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C369028-61C1-4A96-B2C0-F208C6978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52950"/>
            <a:ext cx="10287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4A6F239-737B-41FA-A54C-886726862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006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A2235"/>
                </a:solidFill>
                <a:latin typeface="Arial"/>
                <a:ea typeface="Arial"/>
                <a:cs typeface="Arial"/>
              </a:rPr>
              <a:t>Polo negativo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9306A53-0FAB-4ECD-846D-BCB599EBF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96C7B"/>
                </a:solidFill>
                <a:latin typeface="Arial"/>
                <a:ea typeface="Arial"/>
                <a:cs typeface="Arial"/>
              </a:rPr>
              <a:t>Zinco livre da primeira batata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62E9C76-36D7-4A93-8C30-D7B4A19B0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8006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r">
              <a:defRPr sz="1350" b="1">
                <a:solidFill>
                  <a:srgbClr val="DE4A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1">
                <a:solidFill>
                  <a:srgbClr val="DE4A4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E4A4A"/>
                </a:solidFill>
                <a:latin typeface="Arial"/>
                <a:ea typeface="Arial"/>
                <a:cs typeface="Arial"/>
              </a:rPr>
              <a:t>Polo positivo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F454D23-8AA6-4CF1-99DC-52AA0AE33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14350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96C7B"/>
                </a:solidFill>
                <a:latin typeface="Arial"/>
                <a:ea typeface="Arial"/>
                <a:cs typeface="Arial"/>
              </a:rPr>
              <a:t>Cobre livre da última batata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8F07F16-B9B3-4536-82D8-E4EA51178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5791200"/>
            <a:ext cx="542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127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LED: perna curta no negativo. Perna longa no positivo.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CD9F1D3-1CD8-4BF3-B7DB-A356DDA23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96C7B"/>
                </a:solidFill>
                <a:latin typeface="Arial"/>
                <a:ea typeface="Arial"/>
                <a:cs typeface="Arial"/>
              </a:rPr>
              <a:t>Trabalho trimestral de Química</a:t>
            </a:r>
          </a:p>
        </p:txBody>
      </p:sp>
    </p:spTree>
    <p:extLst>
      <p:ext uri="{BB962C8B-B14F-4D97-AF65-F5344CB8AC3E}">
        <p14:creationId xmlns:p14="http://schemas.microsoft.com/office/powerpoint/2010/main" val="157137855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A22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7CF003-CACE-4985-9656-DCA6ACFB8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C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B0EE98-23AE-428A-A059-0A79B0B94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Explicação química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88D68A-8677-4D42-8965-8E76089E5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457200"/>
            <a:ext cx="723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r">
              <a:defRPr sz="135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700942-BF9C-4E26-B72F-FB5B26E58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9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1CB374-85FD-4968-A4CC-EEB1AAFF9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45720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02E42"/>
          </a:solidFill>
          <a:ln xmlns:a="http://schemas.openxmlformats.org/drawingml/2006/main" w="19050">
            <a:solidFill>
              <a:srgbClr val="30516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D32EB0-7B2A-420F-8F41-BB5C1A950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8669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F2B8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2B84B"/>
                </a:solidFill>
                <a:latin typeface="Arial"/>
                <a:ea typeface="Arial"/>
                <a:cs typeface="Arial"/>
              </a:rPr>
              <a:t>Ânodo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CA208A-F446-41B5-8620-99ABE4506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0505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Zinco, polo negativo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B3D9E3-9568-4538-A960-73290C814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57500"/>
            <a:ext cx="3524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DCE9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DCE9E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CE9ED"/>
                </a:solidFill>
                <a:latin typeface="Arial"/>
                <a:ea typeface="Arial"/>
                <a:cs typeface="Arial"/>
              </a:rPr>
              <a:t>O zinco perde elétrons e sofre oxidação.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20E726-F47B-40CB-81CC-7CCA3AE3B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3855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1875" b="1">
                <a:solidFill>
                  <a:srgbClr val="F2B8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2B84B"/>
                </a:solidFill>
                <a:latin typeface="Arial"/>
                <a:ea typeface="Arial"/>
                <a:cs typeface="Arial"/>
              </a:rPr>
              <a:t>Zn(s)  →  Zn²⁺(aq) + 2 e⁻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0F1240-65FF-458E-9527-E1CE61EF0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524000"/>
            <a:ext cx="45720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02E42"/>
          </a:solidFill>
          <a:ln xmlns:a="http://schemas.openxmlformats.org/drawingml/2006/main" w="19050">
            <a:solidFill>
              <a:srgbClr val="30516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C0B6C4-6AB3-47AC-9537-60BAE3F24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8669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71D3C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71D3C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1D3CE"/>
                </a:solidFill>
                <a:latin typeface="Arial"/>
                <a:ea typeface="Arial"/>
                <a:cs typeface="Arial"/>
              </a:rPr>
              <a:t>Cátodo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C873B0-A395-4EC7-8AD7-1B57337E9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30505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Cobre, polo positivo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F74C6D-B88D-47CA-8511-FBFF68A0F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857500"/>
            <a:ext cx="352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DCE9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DCE9E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CE9ED"/>
                </a:solidFill>
                <a:latin typeface="Arial"/>
                <a:ea typeface="Arial"/>
                <a:cs typeface="Arial"/>
              </a:rPr>
              <a:t>Na superfície do cobre ocorre a redução de íons do meio.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F62BC2-CD3A-474C-A7A6-60076B41A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63855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1875" b="1">
                <a:solidFill>
                  <a:srgbClr val="71D3C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71D3C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1D3CE"/>
                </a:solidFill>
                <a:latin typeface="Arial"/>
                <a:ea typeface="Arial"/>
                <a:cs typeface="Arial"/>
              </a:rPr>
              <a:t>2 H⁺(aq) + 2 e⁻  →  H₂(g)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E56F29-146F-435C-816C-BC9E9CA24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686050"/>
            <a:ext cx="2190750" cy="628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7C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40E1C1-F77A-4D5B-A21F-0BD92C903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80987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elétrons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0917F5-DFEB-4BAD-A5C6-A7AA6CAAB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191125"/>
            <a:ext cx="942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batata funciona como eletrólito: seu meio úmido permite o movimento de íons e fecha o circuito interno.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A468D3-1584-43A3-B69C-9B6A5CA16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86B7C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86B7C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86B7C0"/>
                </a:solidFill>
                <a:latin typeface="Arial"/>
                <a:ea typeface="Arial"/>
                <a:cs typeface="Arial"/>
              </a:rPr>
              <a:t>Os elétrons percorrem o circuito externo do zinco para o cobre</a:t>
            </a:r>
          </a:p>
        </p:txBody>
      </p:sp>
    </p:spTree>
    <p:extLst>
      <p:ext uri="{BB962C8B-B14F-4D97-AF65-F5344CB8AC3E}">
        <p14:creationId xmlns:p14="http://schemas.microsoft.com/office/powerpoint/2010/main" val="79895950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9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F05781-DA4D-479F-8DC8-F81020B29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C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0429C3-15EF-4DBA-BBD2-DBBAB602A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A2235"/>
                </a:solidFill>
                <a:latin typeface="Arial"/>
                <a:ea typeface="Arial"/>
                <a:cs typeface="Arial"/>
              </a:rPr>
              <a:t>Resultados do teste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9677E9-6123-4355-83CC-48C377EE9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457200"/>
            <a:ext cx="723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r">
              <a:defRPr sz="135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B3EE1B-62F3-47D0-8523-417E9479E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AB91E0-2F48-45F9-9498-9ECD75743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66850"/>
            <a:ext cx="49530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5FAFA"/>
          </a:solidFill>
          <a:ln xmlns:a="http://schemas.openxmlformats.org/drawingml/2006/main" w="19050">
            <a:solidFill>
              <a:srgbClr val="76A9A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7125E4-9CBB-415C-8FFA-51D1FE8B4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71725"/>
            <a:ext cx="449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FOTO 3: LEITURA DO MULTÍMETRO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CE8B4B-8507-432D-B341-3D72B131A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71775"/>
            <a:ext cx="453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900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00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96C7B"/>
                </a:solidFill>
                <a:latin typeface="Arial"/>
                <a:ea typeface="Arial"/>
                <a:cs typeface="Arial"/>
              </a:rPr>
              <a:t>Substitua por uma foto do grupo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87871B-614A-490C-8B10-BB4F23910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466850"/>
            <a:ext cx="49530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5FAFA"/>
          </a:solidFill>
          <a:ln xmlns:a="http://schemas.openxmlformats.org/drawingml/2006/main" w="19050">
            <a:solidFill>
              <a:srgbClr val="76A9A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0800CD-898A-47E8-99BF-95D1FB0C8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71725"/>
            <a:ext cx="449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FOTO 4: LED ACESO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4C7B19-B2FF-44A3-947D-D790EFCFE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71775"/>
            <a:ext cx="453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900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00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96C7B"/>
                </a:solidFill>
                <a:latin typeface="Arial"/>
                <a:ea typeface="Arial"/>
                <a:cs typeface="Arial"/>
              </a:rPr>
              <a:t>Substitua por uma foto do grupo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822949-307D-49E3-AADE-B45BA6CB5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910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97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MEDIÇÕES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26D7F2-D26D-424A-BEDA-65FE38FFE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A2235"/>
                </a:solidFill>
                <a:latin typeface="Arial"/>
                <a:ea typeface="Arial"/>
                <a:cs typeface="Arial"/>
              </a:rPr>
              <a:t>Tensão total medida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345AD4-740C-4101-9CD5-44AEE5F73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419600"/>
            <a:ext cx="22479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67C8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FA89F3-0FD0-47A6-A506-413FC4764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5720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165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[INSERIR] V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EC7D56-10CD-4C0F-83AB-6AB030238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5720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A2235"/>
                </a:solidFill>
                <a:latin typeface="Arial"/>
                <a:ea typeface="Arial"/>
                <a:cs typeface="Arial"/>
              </a:rPr>
              <a:t>O LED acendeu?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03E0D3-4C57-4A38-8EBD-94E9956AD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19600"/>
            <a:ext cx="28194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67C8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1D3541-2ED8-4831-B654-6D759C9FF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57200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142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[SIM / NÃO / FRACO]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890B48-BCD6-42AC-A2A2-28D723295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721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97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OBSERVAÇÃO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2B41E2-39CC-4C69-AEDA-5CCF4CE98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959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C7B"/>
                </a:solidFill>
                <a:latin typeface="Arial"/>
                <a:ea typeface="Arial"/>
                <a:cs typeface="Arial"/>
              </a:rPr>
              <a:t>[Descreva o brilho, a estabilidade da leitura e qualquer mudança feita durante o teste.]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9D44FB-8DC4-4F60-88F5-54B073BB9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96C7B"/>
                </a:solidFill>
                <a:latin typeface="Arial"/>
                <a:ea typeface="Arial"/>
                <a:cs typeface="Arial"/>
              </a:rPr>
              <a:t>Trabalho trimestral de Química</a:t>
            </a:r>
          </a:p>
        </p:txBody>
      </p:sp>
    </p:spTree>
    <p:extLst>
      <p:ext uri="{BB962C8B-B14F-4D97-AF65-F5344CB8AC3E}">
        <p14:creationId xmlns:p14="http://schemas.microsoft.com/office/powerpoint/2010/main" val="87161229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1D4502-2759-460F-86FF-35D9ED2AB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C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754CEE-26D1-4783-A0FB-B2BBD0CD9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A2235"/>
                </a:solidFill>
                <a:latin typeface="Arial"/>
                <a:ea typeface="Arial"/>
                <a:cs typeface="Arial"/>
              </a:rPr>
              <a:t>Conclusão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2BEEA5-E22B-4319-88ED-F4F4C93D2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457200"/>
            <a:ext cx="723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r">
              <a:defRPr sz="135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5F7A4C-E3D1-455D-BE1A-1451F223E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4E8EF8-E20E-42E8-AC13-3B92DE2B9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668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97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RESULTADO PRINCIPAL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948699-5154-4854-94BE-C116270C8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A2235"/>
                </a:solidFill>
                <a:latin typeface="Arial"/>
                <a:ea typeface="Arial"/>
                <a:cs typeface="Arial"/>
              </a:rPr>
              <a:t>[Explique se a pilha produziu tensão suficiente e se o LED funcionou.]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0B082F-E8F9-435B-B5C0-1F6BD0B29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2415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CBFA52-E9E1-4A22-A053-4BA36471D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670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97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DIFICULDADES ENCONTRADAS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88D82E-0C5E-4C46-807C-9E5773F33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48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96C7B"/>
                </a:solidFill>
                <a:latin typeface="Arial"/>
                <a:ea typeface="Arial"/>
                <a:cs typeface="Arial"/>
              </a:rPr>
              <a:t>[Exemplo: mau contato nas garras, eletrodos sujos, LED invertido ou tensão baixa.]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46A1FA-22BE-4ECB-AF2D-48EEC06B3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196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97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POSSÍVEIS MELHORIAS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49CC0F-0EA4-434A-9678-88495CCD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006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96C7B"/>
                </a:solidFill>
                <a:latin typeface="Arial"/>
                <a:ea typeface="Arial"/>
                <a:cs typeface="Arial"/>
              </a:rPr>
              <a:t>[Exemplo: usar mais células, aumentar a área dos eletrodos ou refazer conexões.]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194765-97C2-454A-9B44-2F05F11F4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57850"/>
            <a:ext cx="106680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DD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87FC46-873E-44C2-8611-33CF3B865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81025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127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Conclusão química: a oxidação do zinco liberou elétrons, enquanto a batata permitiu o transporte de íons.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11D702-7EC9-4A22-A5ED-BFA0BC878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96C7B"/>
                </a:solidFill>
                <a:latin typeface="Arial"/>
                <a:ea typeface="Arial"/>
                <a:cs typeface="Arial"/>
              </a:rPr>
              <a:t>Trabalho trimestral de Química</a:t>
            </a:r>
          </a:p>
        </p:txBody>
      </p:sp>
    </p:spTree>
    <p:extLst>
      <p:ext uri="{BB962C8B-B14F-4D97-AF65-F5344CB8AC3E}">
        <p14:creationId xmlns:p14="http://schemas.microsoft.com/office/powerpoint/2010/main" val="168869707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A22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3480B6-7C3E-40E0-B04D-A07B53FA4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C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F4E7DC-D221-4175-A25B-051A8B398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Referências e vídeo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66F813-176C-46EA-BE90-195B4F65E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457200"/>
            <a:ext cx="723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r">
              <a:defRPr sz="135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7C75D7-914A-4ABA-9BD0-22CF82C96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9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B76116-ED29-4B09-8BE4-A9EAF2E97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668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97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DOCUMENTO DO TRABALHO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4F0076-ABDD-4D9A-AA07-8A30814E3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907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Orientações do Trabalho Trimestral de Química — 3º ano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1E5ED4-513E-42F5-B20B-161BEE4CC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384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97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FONTES CONSULTADAS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A0C520-AF1A-473F-B1B3-D8C30DC0E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6286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DCE9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DCE9E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CE9ED"/>
                </a:solidFill>
                <a:latin typeface="Arial"/>
                <a:ea typeface="Arial"/>
                <a:cs typeface="Arial"/>
              </a:rPr>
              <a:t>University of Northern Colorado — Potato Battery</a:t>
            </a:r>
          </a:p>
          <a:p xmlns:a="http://schemas.openxmlformats.org/drawingml/2006/main">
            <a:pPr algn="l">
              <a:defRPr sz="1350" b="0">
                <a:solidFill>
                  <a:srgbClr val="DCE9E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CE9ED"/>
                </a:solidFill>
                <a:latin typeface="Arial"/>
                <a:ea typeface="Arial"/>
                <a:cs typeface="Arial"/>
              </a:rPr>
              <a:t>University of Illinois Physics Van — Potato Battery</a:t>
            </a:r>
          </a:p>
          <a:p xmlns:a="http://schemas.openxmlformats.org/drawingml/2006/main">
            <a:pPr algn="l">
              <a:defRPr sz="1350" b="0">
                <a:solidFill>
                  <a:srgbClr val="DCE9E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CE9ED"/>
                </a:solidFill>
                <a:latin typeface="Arial"/>
                <a:ea typeface="Arial"/>
                <a:cs typeface="Arial"/>
              </a:rPr>
              <a:t>MIT PLIX — Alternatives to coin-cell batteries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C8FED9-B6F4-48C9-B5A8-8D5FE87CA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767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97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VÍDEO RECOMENDADO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F65CFB-728D-4C73-9E31-60860890C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96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71D3C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71D3C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1D3CE"/>
                </a:solidFill>
                <a:latin typeface="Arial"/>
                <a:ea typeface="Arial"/>
                <a:cs typeface="Arial"/>
              </a:rPr>
              <a:t>Pilha de Batata (ou Batateria) — Leonardo Fernandez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D99B2A-309A-4D89-AD4B-05DB69712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57800"/>
            <a:ext cx="638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https://www.youtube.com/watch?v=sgajFGJ7g5Q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BB3C3A-C9DC-45C4-9091-E605D08BB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76400"/>
            <a:ext cx="3429000" cy="371475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102E42"/>
          </a:solidFill>
          <a:ln xmlns:a="http://schemas.openxmlformats.org/drawingml/2006/main" w="19050">
            <a:solidFill>
              <a:srgbClr val="30516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863E70-1D89-4E55-8AAC-F1F23968A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7645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1800" b="1">
                <a:solidFill>
                  <a:srgbClr val="F2B8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2B84B"/>
                </a:solidFill>
                <a:latin typeface="Arial"/>
                <a:ea typeface="Arial"/>
                <a:cs typeface="Arial"/>
              </a:rPr>
              <a:t>Antes de apresentar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FB2E34-577D-4B05-8AB9-BA8B88BC6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24150"/>
            <a:ext cx="27051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Substituam todos os campos [INSERIR].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Confirmem a polaridade do LED.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Levem a montagem pronta, o multímetro e peças de reserva.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Distribuam a fala entre os integrantes.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65811D-9AD4-4A08-AF2B-FE48B3786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86B7C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86B7C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86B7C0"/>
                </a:solidFill>
                <a:latin typeface="Arial"/>
                <a:ea typeface="Arial"/>
                <a:cs typeface="Arial"/>
              </a:rPr>
              <a:t>Acesso às referências completas nas notas deste slide</a:t>
            </a:r>
          </a:p>
        </p:txBody>
      </p:sp>
    </p:spTree>
    <p:extLst>
      <p:ext uri="{BB962C8B-B14F-4D97-AF65-F5344CB8AC3E}">
        <p14:creationId xmlns:p14="http://schemas.microsoft.com/office/powerpoint/2010/main" val="10791590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2026-10-13T12:59:06.0270000Z</dcterms:created>
  <dcterms:modified xsi:type="dcterms:W3CDTF">2026-10-13T12:59:06.0280000Z</dcterms:modified>
</coreProperties>
</file>